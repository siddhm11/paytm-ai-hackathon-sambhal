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1" r:id="rId28"/>
    <p:sldId id="256" r:id="rId2"/>
    <p:sldId id="257" r:id="rId3"/>
    <p:sldId id="258" r:id="rId4"/>
    <p:sldId id="259" r:id="rId5"/>
    <p:sldId id="260" r:id="rId6"/>
    <p:sldId id="267" r:id="rId24"/>
    <p:sldId id="268" r:id="rId25"/>
    <p:sldId id="261" r:id="rId7"/>
    <p:sldId id="269" r:id="rId26"/>
    <p:sldId id="270" r:id="rId27"/>
    <p:sldId id="262" r:id="rId8"/>
    <p:sldId id="263" r:id="rId9"/>
    <p:sldId id="264" r:id="rId10"/>
    <p:sldId id="265" r:id="rId11"/>
    <p:sldId id="266" r:id="rId12"/>
    <p:sldId id="272" r:id="rId29"/>
  </p:sldIdLst>
  <p:notesMasterIdLst>
    <p:notesMasterId r:id="rId13"/>
  </p:notesMasterIdLst>
  <p:sldSz cx="12192000" cy="6858000"/>
  <p:notesSz cx="6858000" cy="12192000"/>
  <p:embeddedFontLst>
    <p:embeddedFont>
      <p:font typeface="DM Sans" pitchFamily="34" charset="0"/>
      <p:regular r:id="rId18"/>
      <p:bold r:id="rId19"/>
    </p:embeddedFont>
    <p:embeddedFont>
      <p:font typeface="Fraunces" pitchFamily="18" charset="0"/>
      <p:regular r:id="rId20"/>
      <p:bold r:id="rId21"/>
    </p:embeddedFont>
    <p:embeddedFont>
      <p:font typeface="Noto Serif Devanagari" pitchFamily="18"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6.xml"/><Relationship Id="rId2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“Sambhal” means to steady, to take care of. One line: we help Paytm merchants take the right-sized loan and get through bad weeks without falling behind. The orange line is the whole story: takings dip below the installment, Sambhal notices at the white dot, and the merchant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tell it as one merchant’s week. Installment is fixed on normal sales; the shop shuts for a few days; the unpaid installments are either swept from reopening day’s sales or stay overdue on his record (our model sweeps, as PhonePe documents); Sambhal prevents both. The numbers at the bottom are Paytm’s own: early cases mostly resolve, late ones mostly don’t. So the value is in acting early, not acting harder.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two forces meet. Left, from 1 Jan 2027, RBI/2026-27/230 requires lenders to document engagement with distressed borrowers before escalating and to explain resolution options, plus strict contact rules. Sambhal's audit log is that record. (RBI doesn't require prediction: spotting trouble early is our choice.) Right, Paytm already sits in the middle: it distributes the loans, it is the collection partner, and it now sells AI agents to lenders through Pi. Sambhal is the product where these meet.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two moments in one journey. Before the loan, right-size it using the merchant’s own sales. During the loan, the loop: detect, talk, fix, verify, and now prepare. Stress the bottom line: the AI talks, but it can only offer what the lender pre-approved. The phone is the right-sizer in the app (My loan, 'New loan? Check what fits'): ₹2.5 lakh over 180 days is Tight, ₹1,562 a day is 26% of Ravi's slowest week; it suggests up to ₹1.9 lakh. The lender decides.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walk left to right. The flag arrives Thursday 9 pm, before anything is missed, and the code holds the message until 8 am because RBI allows contact only 8 to 7. The first message is help, not a demand, and says it is recorded. The moment Ravi mentions a wedding, Sambhal goes quiet until Monday. The fix comes from the lender’s menu. Payoff: Monday’s deduction falls from ₹3,400 (57% of the day) to ₹1,032 (17%). Maths: 3 × ₹850 = ₹2,550; over 14 days = ₹182 a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this is the slide that answers “isn’t this just a nicer collections bot?”. The model never decides timing or terms; a rules engine does. Walk one row, the bereavement one: Sambhal stops and hands over to a person. Then the proof: a fixed set of 40 scenarios runs on every build, and any rule violation blocks the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read it left to right. Settlements and a neighbourhood signal come in; a plain early-warning rule and an agent think; a deterministic guard layer sits between the model and the merchant; everything that goes out is logged and tested. Sarvam does the voice and reads replies; the rules decide days and amounts.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if a judge says “we already have risk scores”, this is the answer, card 2. We don’t compete with the score; we start where it stops. Card 1 is the moat: only Paytm sees daily takings. Card 3 is why a lender’s compliance team will like it. Card 4 is why a product team will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one benefit per stakeholder, said in their language. Merchant: dignity and cash on reopening day. Lender: act while the account is still curable, and be audit-ready. Paytm: better collection performance and more repeat borrowers. Close with the scorecard: we will not claim a percentage improvement until a pilot measures it against a holdout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who pays and why. Why Paytm cares: it approved up to ₹590 Cr of first-loss guarantees (DLG) for five lenders in FY27 (say “up to”, never “losses”). Inside Paytm it improves a revenue line Paytm already has, as collection partner. Outside, it is a Pi module priced per active loan plus an outcome fee, so we only earn more when merchants recover. Pricing numbers come after a pilot, not before. The path: one city, one partner, a holdout group, eight weeks.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Cue: everything on this list runs today, on a laptop, offline if needed. Then one line on why you can build it: you already run reconciliation and NLP pipelines in production. End on the tagline.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this is the working prototype, not a mock-up. Kannada first, English underneath for judges. Point at the one-tap reasons and the big mic: built for someone at a busy counter. The offer shows exactly what each day will cost before he agrees. The promise screen turns our guardrails into commitments he can hear.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the idea. Paytm sees the good days too. With pay-ahead, ₹100 on days Ravi sells ₹6,000 or more, he would have had ₹3,800 ahead by the wedding: Friday to Sunday covered, no pause, no lender decision. Be honest: it is the same money, paid earlier on days it hurts least; it is his choice and off any time. The 1-merchant figure assumes everyone opts in, so it is an upper bound we would measure in the pilot.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only Paytm sees thousands of shops side by side. When eight shops in Bellandur dip together, it is a local event, not eight problems: no reminders there, one decision for the lender. Shobha shows the merchant starting the conversation, and trust-then-check shows we don’t give relief blindly.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same synthetic merchants, same days, only Sambhal differs. 22 fall overdue without, 5 with, and those 5 are with a person by design. An independent audit re-checks every message: zero rule breaks. Then the what-if: lenders can see the cost of a stricter menu before they ship it. Say clearly this is synthetic, and how the pilot would measure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for readers of the deck. In the live 5-minute slot, use the 5-min deck instead.</a:t>
            </a:r>
          </a:p>
          <a:p>
            <a:r>
              <a:t>1 in 6,000: about ₹10 of Sarvam calls per case (measured: Ravi’s case is about ₹6) against about ₹60,000 lost on a loan like Ravi’s that reaches 90+ days (65% of the ₹92,650 still owed, since 30–35% is recovered). AI running cost only, not staff or the licence. ₹912 Cr: Paytm financial services revenue, Q2 FY27, +49%. DLG: say “up to”, never “losses”.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used Sarvam: Saaras v4 hears the merchant, Bulbul v3 speaks every message, Sarvam-105b reads free-form replies (never amounts or days). Saaras also listens back to our own voice notes: four faults found by listening tests (Wispr Flow, then Saaras), all fixed. Venue checks, 31 Oct: voice 1.4 s, speech-to-text 0.8 s, language model 1.0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F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E1B33"/>
                </a:solidFill>
                <a:latin typeface="Fraunces" pitchFamily="34" charset="0"/>
                <a:ea typeface="Fraunces" pitchFamily="34" charset="-122"/>
                <a:cs typeface="Fraunce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0E1B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F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E1B33"/>
                </a:solidFill>
                <a:latin typeface="Fraunces" pitchFamily="34" charset="0"/>
                <a:ea typeface="Fraunces" pitchFamily="34" charset="-122"/>
                <a:cs typeface="Fraunce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0E1B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image" Target="../media/image6.png"/><Relationship Id="rId6"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image" Target="../media/image7.png"/><Relationship Id="rId6"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pic>
        <p:nvPicPr>
          <p:cNvPr id="2" name="Image 0" descr="A line of daily takings that drops below the installment level for three days and then recovers">    </p:cNvPr>
          <p:cNvPicPr>
            <a:picLocks noChangeAspect="1"/>
          </p:cNvPicPr>
          <p:nvPr/>
        </p:nvPicPr>
        <p:blipFill>
          <a:blip r:embed="rId1"/>
          <a:srcRect l="0" r="0" t="0" b="0"/>
          <a:stretch/>
        </p:blipFill>
        <p:spPr>
          <a:xfrm>
            <a:off x="7366000" y="762000"/>
            <a:ext cx="4013200" cy="1397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93B"/>
                </a:solidFill>
                <a:latin typeface="DM Sans" pitchFamily="34" charset="0"/>
                <a:ea typeface="DM Sans" pitchFamily="34" charset="-122"/>
                <a:cs typeface="DM Sans" pitchFamily="34" charset="-120"/>
              </a:rPr>
              <a:t>TRACK 2 · AI-POWERED FINANCIAL JOURNEYS</a:t>
            </a:r>
            <a:endParaRPr lang="en-US" sz="1200" dirty="0"/>
          </a:p>
        </p:txBody>
      </p:sp>
      <p:sp>
        <p:nvSpPr>
          <p:cNvPr id="4" name="Text 1"/>
          <p:cNvSpPr/>
          <p:nvPr>
            <p:ph type="title"/>
          </p:nvPr>
        </p:nvSpPr>
        <p:spPr>
          <a:xfrm>
            <a:off x="812800" y="2362547"/>
            <a:ext cx="4634409"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7F5F0"/>
                </a:solidFill>
                <a:latin typeface="Fraunces" pitchFamily="18" charset="0"/>
                <a:ea typeface="Fraunces" pitchFamily="18" charset="-122"/>
                <a:cs typeface="Fraunces" pitchFamily="18" charset="-120"/>
              </a:rPr>
              <a:t>Sambhal</a:t>
            </a:r>
            <a:endParaRPr lang="en-US" sz="8000" dirty="0"/>
          </a:p>
        </p:txBody>
      </p:sp>
      <p:sp>
        <p:nvSpPr>
          <p:cNvPr id="5" name="Text 2"/>
          <p:cNvSpPr/>
          <p:nvPr/>
        </p:nvSpPr>
        <p:spPr>
          <a:xfrm>
            <a:off x="5447209" y="2892772"/>
            <a:ext cx="1232059" cy="57403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F2A93B"/>
                </a:solidFill>
                <a:latin typeface="Noto Serif Devanagari" pitchFamily="18" charset="0"/>
                <a:ea typeface="Noto Serif Devanagari" pitchFamily="18" charset="-122"/>
                <a:cs typeface="Noto Serif Devanagari" pitchFamily="18" charset="-120"/>
              </a:rPr>
              <a:t>संभाल</a:t>
            </a:r>
            <a:endParaRPr lang="en-US" sz="3600" dirty="0"/>
          </a:p>
        </p:txBody>
      </p:sp>
      <p:sp>
        <p:nvSpPr>
          <p:cNvPr id="6" name="Text 3"/>
          <p:cNvSpPr/>
          <p:nvPr/>
        </p:nvSpPr>
        <p:spPr>
          <a:xfrm>
            <a:off x="812800" y="3644602"/>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7F5F0"/>
                </a:solidFill>
                <a:latin typeface="DM Sans" pitchFamily="34" charset="0"/>
                <a:ea typeface="DM Sans" pitchFamily="34" charset="-122"/>
                <a:cs typeface="DM Sans" pitchFamily="34" charset="-120"/>
              </a:rPr>
              <a:t>Right-size the loan. Steady the merchant through bad weeks.</a:t>
            </a:r>
            <a:endParaRPr lang="en-US" sz="2200" dirty="0"/>
          </a:p>
        </p:txBody>
      </p:sp>
      <p:sp>
        <p:nvSpPr>
          <p:cNvPr id="7" name="Text 4"/>
          <p:cNvSpPr/>
          <p:nvPr/>
        </p:nvSpPr>
        <p:spPr>
          <a:xfrm>
            <a:off x="812800" y="421099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3D6"/>
                </a:solidFill>
                <a:latin typeface="DM Sans" pitchFamily="34" charset="0"/>
                <a:ea typeface="DM Sans" pitchFamily="34" charset="-122"/>
                <a:cs typeface="DM Sans" pitchFamily="34" charset="-120"/>
              </a:rPr>
              <a:t>An AI teammate for Paytm merchant loans, before and during repayment</a:t>
            </a:r>
            <a:endParaRPr lang="en-US" sz="16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DM Sans" pitchFamily="34" charset="0"/>
                <a:ea typeface="DM Sans" pitchFamily="34" charset="-122"/>
                <a:cs typeface="DM Sans" pitchFamily="34" charset="-120"/>
              </a:rPr>
              <a:t>Siddh Mehta · Paytm Build for India AI Hackathon – Bengaluru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5942"/>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94560A"/>
                </a:solidFill>
                <a:latin typeface="DM Sans" pitchFamily="34" charset="0"/>
                <a:ea typeface="DM Sans" pitchFamily="34" charset="-122"/>
                <a:cs typeface="DM Sans" pitchFamily="34" charset="-120"/>
              </a:rPr>
              <a:t>THE PROBLEM</a:t>
            </a:r>
            <a:endParaRPr lang="en-US" sz="1196" dirty="0"/>
          </a:p>
        </p:txBody>
      </p:sp>
      <p:sp>
        <p:nvSpPr>
          <p:cNvPr id="3" name="Text 1"/>
          <p:cNvSpPr/>
          <p:nvPr>
            <p:ph type="title"/>
          </p:nvPr>
        </p:nvSpPr>
        <p:spPr>
          <a:xfrm>
            <a:off x="812800" y="1124942"/>
            <a:ext cx="10883392" cy="521643"/>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0E1B33"/>
                </a:solidFill>
                <a:latin typeface="Fraunces" pitchFamily="18" charset="0"/>
                <a:ea typeface="Fraunces" pitchFamily="18" charset="-122"/>
                <a:cs typeface="Fraunces" pitchFamily="18" charset="-120"/>
              </a:rPr>
              <a:t>One bad week can sink a good loan</a:t>
            </a:r>
            <a:endParaRPr lang="en-US" sz="3566" dirty="0"/>
          </a:p>
        </p:txBody>
      </p:sp>
      <p:sp>
        <p:nvSpPr>
          <p:cNvPr id="4" name="Shape 2"/>
          <p:cNvSpPr/>
          <p:nvPr/>
        </p:nvSpPr>
        <p:spPr>
          <a:xfrm>
            <a:off x="815975" y="1929160"/>
            <a:ext cx="3380284" cy="2127796"/>
          </a:xfrm>
          <a:prstGeom prst="roundRect">
            <a:avLst>
              <a:gd name="adj" fmla="val 4626"/>
            </a:avLst>
          </a:prstGeom>
          <a:solidFill>
            <a:srgbClr val="FFFEFB"/>
          </a:solidFill>
          <a:ln w="6350">
            <a:solidFill>
              <a:srgbClr val="E2DED4"/>
            </a:solidFill>
            <a:prstDash val="solid"/>
          </a:ln>
        </p:spPr>
        <p:txBody>
          <a:bodyPr/>
          <a:p/>
        </p:txBody>
      </p:sp>
      <p:sp>
        <p:nvSpPr>
          <p:cNvPr id="5" name="Text 3"/>
          <p:cNvSpPr/>
          <p:nvPr/>
        </p:nvSpPr>
        <p:spPr>
          <a:xfrm>
            <a:off x="1073150" y="2186335"/>
            <a:ext cx="2951912" cy="327422"/>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01</a:t>
            </a:r>
            <a:endParaRPr lang="en-US" sz="2200" dirty="0"/>
          </a:p>
        </p:txBody>
      </p:sp>
      <p:sp>
        <p:nvSpPr>
          <p:cNvPr id="6" name="Text 4"/>
          <p:cNvSpPr/>
          <p:nvPr/>
        </p:nvSpPr>
        <p:spPr>
          <a:xfrm>
            <a:off x="1073150" y="2589957"/>
            <a:ext cx="2951912" cy="26501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Sized on normal weeks</a:t>
            </a:r>
            <a:endParaRPr lang="en-US" sz="1600" dirty="0"/>
          </a:p>
        </p:txBody>
      </p:sp>
      <p:sp>
        <p:nvSpPr>
          <p:cNvPr id="7" name="Text 5"/>
          <p:cNvSpPr/>
          <p:nvPr/>
        </p:nvSpPr>
        <p:spPr>
          <a:xfrm>
            <a:off x="1073150" y="2931170"/>
            <a:ext cx="2951912" cy="894011"/>
          </a:xfrm>
          <a:prstGeom prst="rect">
            <a:avLst/>
          </a:prstGeom>
          <a:noFill/>
          <a:ln/>
        </p:spPr>
        <p:txBody>
          <a:bodyPr wrap="square" lIns="0" tIns="0" rIns="0" bIns="0" rtlCol="0" anchor="t">
            <a:normAutofit/>
          </a:bodyPr>
          <a:lstStyle/>
          <a:p>
            <a:pPr algn="l" indent="0" marL="0">
              <a:lnSpc>
                <a:spcPts val="1718"/>
              </a:lnSpc>
              <a:buNone/>
            </a:pPr>
            <a:r>
              <a:rPr lang="en-US" sz="1185" dirty="0">
                <a:solidFill>
                  <a:srgbClr val="44506A"/>
                </a:solidFill>
                <a:latin typeface="DM Sans" pitchFamily="34" charset="0"/>
                <a:ea typeface="DM Sans" pitchFamily="34" charset="-122"/>
                <a:cs typeface="DM Sans" pitchFamily="34" charset="-120"/>
              </a:rPr>
              <a:t>Installments follow normal sales. A wedding, an illness or a flood can shut the shop and drop settlements to near zero.</a:t>
            </a:r>
            <a:endParaRPr lang="en-US" sz="1185" dirty="0"/>
          </a:p>
        </p:txBody>
      </p:sp>
      <p:sp>
        <p:nvSpPr>
          <p:cNvPr id="8" name="Shape 6"/>
          <p:cNvSpPr/>
          <p:nvPr/>
        </p:nvSpPr>
        <p:spPr>
          <a:xfrm>
            <a:off x="4405809" y="1929160"/>
            <a:ext cx="3380333" cy="2127796"/>
          </a:xfrm>
          <a:prstGeom prst="roundRect">
            <a:avLst>
              <a:gd name="adj" fmla="val 4626"/>
            </a:avLst>
          </a:prstGeom>
          <a:solidFill>
            <a:srgbClr val="FFFEFB"/>
          </a:solidFill>
          <a:ln w="6350">
            <a:solidFill>
              <a:srgbClr val="E2DED4"/>
            </a:solidFill>
            <a:prstDash val="solid"/>
          </a:ln>
        </p:spPr>
        <p:txBody>
          <a:bodyPr/>
          <a:p/>
        </p:txBody>
      </p:sp>
      <p:sp>
        <p:nvSpPr>
          <p:cNvPr id="9" name="Text 7"/>
          <p:cNvSpPr/>
          <p:nvPr/>
        </p:nvSpPr>
        <p:spPr>
          <a:xfrm>
            <a:off x="4662984" y="2186335"/>
            <a:ext cx="2951963" cy="327422"/>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02</a:t>
            </a:r>
            <a:endParaRPr lang="en-US" sz="2200" dirty="0"/>
          </a:p>
        </p:txBody>
      </p:sp>
      <p:sp>
        <p:nvSpPr>
          <p:cNvPr id="10" name="Text 8"/>
          <p:cNvSpPr/>
          <p:nvPr/>
        </p:nvSpPr>
        <p:spPr>
          <a:xfrm>
            <a:off x="4662984" y="2589957"/>
            <a:ext cx="2951963" cy="26501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Shortfalls stack up</a:t>
            </a:r>
            <a:endParaRPr lang="en-US" sz="1600" dirty="0"/>
          </a:p>
        </p:txBody>
      </p:sp>
      <p:sp>
        <p:nvSpPr>
          <p:cNvPr id="11" name="Text 9"/>
          <p:cNvSpPr/>
          <p:nvPr/>
        </p:nvSpPr>
        <p:spPr>
          <a:xfrm>
            <a:off x="4662984" y="2931170"/>
            <a:ext cx="2951963" cy="894011"/>
          </a:xfrm>
          <a:prstGeom prst="rect">
            <a:avLst/>
          </a:prstGeom>
          <a:noFill/>
          <a:ln/>
        </p:spPr>
        <p:txBody>
          <a:bodyPr wrap="square" lIns="0" tIns="0" rIns="0" bIns="0" rtlCol="0" anchor="t">
            <a:normAutofit/>
          </a:bodyPr>
          <a:lstStyle/>
          <a:p>
            <a:pPr algn="l" indent="0" marL="0">
              <a:lnSpc>
                <a:spcPts val="1718"/>
              </a:lnSpc>
              <a:buNone/>
            </a:pPr>
            <a:r>
              <a:rPr lang="en-US" sz="1185" dirty="0">
                <a:solidFill>
                  <a:srgbClr val="44506A"/>
                </a:solidFill>
                <a:latin typeface="DM Sans" pitchFamily="34" charset="0"/>
                <a:ea typeface="DM Sans" pitchFamily="34" charset="-122"/>
                <a:cs typeface="DM Sans" pitchFamily="34" charset="-120"/>
              </a:rPr>
              <a:t>Unpaid installments carry forward (in our model, as PhonePe documents). On reopening day they are swept from sales or stay overdue on the record.</a:t>
            </a:r>
            <a:endParaRPr lang="en-US" sz="1185" dirty="0"/>
          </a:p>
        </p:txBody>
      </p:sp>
      <p:sp>
        <p:nvSpPr>
          <p:cNvPr id="12" name="Shape 10"/>
          <p:cNvSpPr/>
          <p:nvPr/>
        </p:nvSpPr>
        <p:spPr>
          <a:xfrm>
            <a:off x="7995692" y="1929160"/>
            <a:ext cx="3380333" cy="2127796"/>
          </a:xfrm>
          <a:prstGeom prst="roundRect">
            <a:avLst>
              <a:gd name="adj" fmla="val 4626"/>
            </a:avLst>
          </a:prstGeom>
          <a:solidFill>
            <a:srgbClr val="FFFEFB"/>
          </a:solidFill>
          <a:ln w="6350">
            <a:solidFill>
              <a:srgbClr val="E2DED4"/>
            </a:solidFill>
            <a:prstDash val="solid"/>
          </a:ln>
        </p:spPr>
        <p:txBody>
          <a:bodyPr/>
          <a:p/>
        </p:txBody>
      </p:sp>
      <p:sp>
        <p:nvSpPr>
          <p:cNvPr id="13" name="Text 11"/>
          <p:cNvSpPr/>
          <p:nvPr/>
        </p:nvSpPr>
        <p:spPr>
          <a:xfrm>
            <a:off x="8252867" y="2186335"/>
            <a:ext cx="295196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03</a:t>
            </a:r>
            <a:endParaRPr lang="en-US" sz="2200" dirty="0"/>
          </a:p>
        </p:txBody>
      </p:sp>
      <p:sp>
        <p:nvSpPr>
          <p:cNvPr id="14" name="Text 12"/>
          <p:cNvSpPr/>
          <p:nvPr/>
        </p:nvSpPr>
        <p:spPr>
          <a:xfrm>
            <a:off x="8252867" y="2595265"/>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Outreach starts too late</a:t>
            </a:r>
            <a:endParaRPr lang="en-US" sz="1600" dirty="0"/>
          </a:p>
        </p:txBody>
      </p:sp>
      <p:sp>
        <p:nvSpPr>
          <p:cNvPr id="15" name="Text 13"/>
          <p:cNvSpPr/>
          <p:nvPr/>
        </p:nvSpPr>
        <p:spPr>
          <a:xfrm>
            <a:off x="8252867" y="2940695"/>
            <a:ext cx="295196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Collections react to missed payments, not to the sales drop that predicted them. By then the talk is about arrears.</a:t>
            </a:r>
            <a:endParaRPr lang="en-US" sz="1200" dirty="0"/>
          </a:p>
        </p:txBody>
      </p:sp>
      <p:sp>
        <p:nvSpPr>
          <p:cNvPr id="16" name="Shape 14"/>
          <p:cNvSpPr/>
          <p:nvPr/>
        </p:nvSpPr>
        <p:spPr>
          <a:xfrm>
            <a:off x="812800" y="4364930"/>
            <a:ext cx="10566400" cy="1477070"/>
          </a:xfrm>
          <a:prstGeom prst="roundRect">
            <a:avLst>
              <a:gd name="adj" fmla="val 6878"/>
            </a:avLst>
          </a:prstGeom>
          <a:solidFill>
            <a:srgbClr val="0E1B33"/>
          </a:solidFill>
          <a:ln/>
        </p:spPr>
        <p:txBody>
          <a:bodyPr/>
          <a:p/>
        </p:txBody>
      </p:sp>
      <p:sp>
        <p:nvSpPr>
          <p:cNvPr id="17" name="Text 15"/>
          <p:cNvSpPr/>
          <p:nvPr/>
        </p:nvSpPr>
        <p:spPr>
          <a:xfrm>
            <a:off x="1117600" y="4613325"/>
            <a:ext cx="23545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8FD6C8"/>
                </a:solidFill>
                <a:latin typeface="Fraunces" pitchFamily="18" charset="0"/>
                <a:ea typeface="Fraunces" pitchFamily="18" charset="-122"/>
                <a:cs typeface="Fraunces" pitchFamily="18" charset="-120"/>
              </a:rPr>
              <a:t>83–90%</a:t>
            </a:r>
            <a:endParaRPr lang="en-US" sz="3600" dirty="0"/>
          </a:p>
        </p:txBody>
      </p:sp>
      <p:sp>
        <p:nvSpPr>
          <p:cNvPr id="18" name="Text 16"/>
          <p:cNvSpPr/>
          <p:nvPr/>
        </p:nvSpPr>
        <p:spPr>
          <a:xfrm>
            <a:off x="1117600" y="5167015"/>
            <a:ext cx="2354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DM Sans" pitchFamily="34" charset="0"/>
                <a:ea typeface="DM Sans" pitchFamily="34" charset="-122"/>
                <a:cs typeface="DM Sans" pitchFamily="34" charset="-120"/>
              </a:rPr>
              <a:t>of early missed-payment cases resolved (Bucket 1)</a:t>
            </a:r>
            <a:endParaRPr lang="en-US" sz="1200" dirty="0"/>
          </a:p>
        </p:txBody>
      </p:sp>
      <p:sp>
        <p:nvSpPr>
          <p:cNvPr id="20" name="Text 17"/>
          <p:cNvSpPr/>
          <p:nvPr/>
        </p:nvSpPr>
        <p:spPr>
          <a:xfrm>
            <a:off x="4419600" y="4613325"/>
            <a:ext cx="23545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A93B"/>
                </a:solidFill>
                <a:latin typeface="Fraunces" pitchFamily="18" charset="0"/>
                <a:ea typeface="Fraunces" pitchFamily="18" charset="-122"/>
                <a:cs typeface="Fraunces" pitchFamily="18" charset="-120"/>
              </a:rPr>
              <a:t>30–35%</a:t>
            </a:r>
            <a:endParaRPr lang="en-US" sz="3600" dirty="0"/>
          </a:p>
        </p:txBody>
      </p:sp>
      <p:sp>
        <p:nvSpPr>
          <p:cNvPr id="21" name="Text 18"/>
          <p:cNvSpPr/>
          <p:nvPr/>
        </p:nvSpPr>
        <p:spPr>
          <a:xfrm>
            <a:off x="4419600" y="5167015"/>
            <a:ext cx="2354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DM Sans" pitchFamily="34" charset="0"/>
                <a:ea typeface="DM Sans" pitchFamily="34" charset="-122"/>
                <a:cs typeface="DM Sans" pitchFamily="34" charset="-120"/>
              </a:rPr>
              <a:t>recovered once a loan is 90+ days overdue</a:t>
            </a:r>
            <a:endParaRPr lang="en-US" sz="1200" dirty="0"/>
          </a:p>
        </p:txBody>
      </p:sp>
      <p:sp>
        <p:nvSpPr>
          <p:cNvPr id="22" name="Text 19"/>
          <p:cNvSpPr/>
          <p:nvPr/>
        </p:nvSpPr>
        <p:spPr>
          <a:xfrm>
            <a:off x="8026400" y="4692005"/>
            <a:ext cx="3139440"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7F5F0"/>
                </a:solidFill>
                <a:latin typeface="DM Sans" pitchFamily="34" charset="0"/>
                <a:ea typeface="DM Sans" pitchFamily="34" charset="-122"/>
                <a:cs typeface="DM Sans" pitchFamily="34" charset="-120"/>
              </a:rPr>
              <a:t>Timing decides the outcome. Help early, while it’s still easy to fix.</a:t>
            </a:r>
            <a:endParaRPr lang="en-US" sz="1600" dirty="0"/>
          </a:p>
        </p:txBody>
      </p:sp>
      <p:sp>
        <p:nvSpPr>
          <p:cNvPr id="23"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Source: Paytm Q2 FY27 release p.15.</a:t>
            </a:r>
            <a:endParaRPr lang="en-US" sz="1200" dirty="0"/>
          </a:p>
        </p:txBody>
      </p:sp>
      <p:sp>
        <p:nvSpPr>
          <p:cNvPr id="24"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WHY NOW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The rules change on 1 January 2027</a:t>
            </a:r>
            <a:endParaRPr lang="en-US" sz="3600" dirty="0"/>
          </a:p>
        </p:txBody>
      </p:sp>
      <p:sp>
        <p:nvSpPr>
          <p:cNvPr id="4" name="Shape 2"/>
          <p:cNvSpPr/>
          <p:nvPr/>
        </p:nvSpPr>
        <p:spPr>
          <a:xfrm>
            <a:off x="815975" y="1938586"/>
            <a:ext cx="5175250" cy="3003352"/>
          </a:xfrm>
          <a:prstGeom prst="roundRect">
            <a:avLst>
              <a:gd name="adj" fmla="val 3277"/>
            </a:avLst>
          </a:prstGeom>
          <a:solidFill>
            <a:srgbClr val="FFFEFB"/>
          </a:solidFill>
          <a:ln w="6350">
            <a:solidFill>
              <a:srgbClr val="D9DEE7"/>
            </a:solidFill>
            <a:prstDash val="solid"/>
          </a:ln>
        </p:spPr>
        <p:txBody>
          <a:bodyPr/>
          <a:p/>
        </p:txBody>
      </p:sp>
      <p:pic>
        <p:nvPicPr>
          <p:cNvPr id="5" name="Image 0" descr="Verified">    </p:cNvPr>
          <p:cNvPicPr>
            <a:picLocks noChangeAspect="1"/>
          </p:cNvPicPr>
          <p:nvPr/>
        </p:nvPicPr>
        <p:blipFill>
          <a:blip r:embed="rId1"/>
          <a:srcRect l="0" r="0" t="0" b="0"/>
          <a:stretch/>
        </p:blipFill>
        <p:spPr>
          <a:xfrm>
            <a:off x="1073150" y="2195761"/>
            <a:ext cx="254000" cy="254000"/>
          </a:xfrm>
          <a:prstGeom prst="rect">
            <a:avLst/>
          </a:prstGeom>
        </p:spPr>
      </p:pic>
      <p:sp>
        <p:nvSpPr>
          <p:cNvPr id="6" name="Text 3"/>
          <p:cNvSpPr/>
          <p:nvPr/>
        </p:nvSpPr>
        <p:spPr>
          <a:xfrm>
            <a:off x="1428750" y="2200821"/>
            <a:ext cx="35153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RBI’s final recovery directions</a:t>
            </a:r>
            <a:endParaRPr lang="en-US" sz="1600" dirty="0"/>
          </a:p>
        </p:txBody>
      </p:sp>
      <p:sp>
        <p:nvSpPr>
          <p:cNvPr id="7" name="Text 4"/>
          <p:cNvSpPr/>
          <p:nvPr/>
        </p:nvSpPr>
        <p:spPr>
          <a:xfrm>
            <a:off x="1073150" y="25767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RBI/2026-27/230 · issued 6 Aug 2026 · in force 1 Jan 2027</a:t>
            </a:r>
            <a:endParaRPr lang="en-US" sz="1200" dirty="0"/>
          </a:p>
        </p:txBody>
      </p:sp>
      <p:sp>
        <p:nvSpPr>
          <p:cNvPr id="8" name="Text 5"/>
          <p:cNvSpPr/>
          <p:nvPr/>
        </p:nvSpPr>
        <p:spPr>
          <a:xfrm>
            <a:off x="1171956" y="2917081"/>
            <a:ext cx="4694301" cy="179308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Lenders must document engagement with distressed borrowers before escalating, and explain the resolution options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Contact only between 8 am and 7 pm; calls recorded, and the borrower told</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No calls or visits during bereavement, medical emergencies, calamities or marriage functions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Lenders pay borrowers for harm caused by rule-breaking recovery</a:t>
            </a:r>
            <a:endParaRPr lang="en-US" sz="1200" dirty="0"/>
          </a:p>
        </p:txBody>
      </p:sp>
      <p:sp>
        <p:nvSpPr>
          <p:cNvPr id="9" name="Shape 6"/>
          <p:cNvSpPr/>
          <p:nvPr/>
        </p:nvSpPr>
        <p:spPr>
          <a:xfrm>
            <a:off x="6200775" y="1938586"/>
            <a:ext cx="5175250" cy="3003352"/>
          </a:xfrm>
          <a:prstGeom prst="roundRect">
            <a:avLst>
              <a:gd name="adj" fmla="val 3277"/>
            </a:avLst>
          </a:prstGeom>
          <a:solidFill>
            <a:srgbClr val="FFFEFB"/>
          </a:solidFill>
          <a:ln w="6350">
            <a:solidFill>
              <a:srgbClr val="D9DEE7"/>
            </a:solidFill>
            <a:prstDash val="solid"/>
          </a:ln>
        </p:spPr>
        <p:txBody>
          <a:bodyPr/>
          <a:p/>
        </p:txBody>
      </p:sp>
      <p:pic>
        <p:nvPicPr>
          <p:cNvPr id="10" name="Image 1" descr="Activity">    </p:cNvPr>
          <p:cNvPicPr>
            <a:picLocks noChangeAspect="1"/>
          </p:cNvPicPr>
          <p:nvPr/>
        </p:nvPicPr>
        <p:blipFill>
          <a:blip r:embed="rId2"/>
          <a:srcRect l="0" r="0" t="0" b="0"/>
          <a:stretch/>
        </p:blipFill>
        <p:spPr>
          <a:xfrm>
            <a:off x="6457950" y="2195761"/>
            <a:ext cx="254000" cy="254000"/>
          </a:xfrm>
          <a:prstGeom prst="rect">
            <a:avLst/>
          </a:prstGeom>
        </p:spPr>
      </p:pic>
      <p:sp>
        <p:nvSpPr>
          <p:cNvPr id="11" name="Text 7"/>
          <p:cNvSpPr/>
          <p:nvPr/>
        </p:nvSpPr>
        <p:spPr>
          <a:xfrm>
            <a:off x="6813550" y="2200821"/>
            <a:ext cx="328439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Paytm is already in position</a:t>
            </a:r>
            <a:endParaRPr lang="en-US" sz="1600" dirty="0"/>
          </a:p>
        </p:txBody>
      </p:sp>
      <p:sp>
        <p:nvSpPr>
          <p:cNvPr id="12" name="Text 8"/>
          <p:cNvSpPr/>
          <p:nvPr/>
        </p:nvSpPr>
        <p:spPr>
          <a:xfrm>
            <a:off x="6457950" y="25767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Paytm Q1 FY27 results · Pi launch, 2026</a:t>
            </a:r>
            <a:endParaRPr lang="en-US" sz="1200" dirty="0"/>
          </a:p>
        </p:txBody>
      </p:sp>
      <p:sp>
        <p:nvSpPr>
          <p:cNvPr id="13" name="Text 9"/>
          <p:cNvSpPr/>
          <p:nvPr/>
        </p:nvSpPr>
        <p:spPr>
          <a:xfrm>
            <a:off x="6556756" y="2917081"/>
            <a:ext cx="4694301" cy="113020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Merchant loan distribution is one of Paytm’s four growth engines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Paytm acts as collection outsourcing partner on these loans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Paytm already lists better collections as a goal for its AI</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Pi now offers AI agents to banks, lenders and insurers</a:t>
            </a:r>
            <a:endParaRPr lang="en-US" sz="1200" dirty="0"/>
          </a:p>
        </p:txBody>
      </p:sp>
      <p:sp>
        <p:nvSpPr>
          <p:cNvPr id="14" name="Text 10"/>
          <p:cNvSpPr/>
          <p:nvPr/>
        </p:nvSpPr>
        <p:spPr>
          <a:xfrm>
            <a:off x="812800" y="5249912"/>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Fraunces" pitchFamily="18" charset="0"/>
                <a:ea typeface="Fraunces" pitchFamily="18" charset="-122"/>
                <a:cs typeface="Fraunces" pitchFamily="18" charset="-120"/>
              </a:rPr>
              <a:t>Lending partners have ten weeks to build this. </a:t>
            </a:r>
            <a:r>
              <a:rPr lang="en-US" sz="2200" b="1" dirty="0">
                <a:solidFill>
                  <a:srgbClr val="94560A"/>
                </a:solidFill>
                <a:latin typeface="Fraunces" pitchFamily="18" charset="0"/>
                <a:ea typeface="Fraunces" pitchFamily="18" charset="-122"/>
                <a:cs typeface="Fraunces" pitchFamily="18" charset="-120"/>
              </a:rPr>
              <a:t>Sambhal’s audit log is that record.</a:t>
            </a:r>
            <a:endParaRPr lang="en-US" sz="2200" dirty="0"/>
          </a:p>
        </p:txBody>
      </p:sp>
      <p:sp>
        <p:nvSpPr>
          <p:cNvPr id="15" name="Text 11"/>
          <p:cNvSpPr/>
          <p:nvPr/>
        </p:nvSpPr>
        <p:spPr>
          <a:xfrm>
            <a:off x="812800" y="6024959"/>
            <a:ext cx="98107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Sources: RBI/2026-27/230, Responsible Business Conduct amendment directions, 6 Aug 2026; Paytm Q1 FY27 earnings release; Paytm Pi launch coverage, Sep 2026.</a:t>
            </a:r>
            <a:endParaRPr lang="en-US" sz="1200" dirty="0"/>
          </a:p>
        </p:txBody>
      </p:sp>
      <p:sp>
        <p:nvSpPr>
          <p:cNvPr id="16"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604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94560A"/>
                </a:solidFill>
                <a:latin typeface="DM Sans" pitchFamily="34" charset="0"/>
                <a:ea typeface="DM Sans" pitchFamily="34" charset="-122"/>
                <a:cs typeface="DM Sans" pitchFamily="34" charset="-120"/>
              </a:rPr>
              <a:t>THE SOLUTION</a:t>
            </a:r>
            <a:endParaRPr lang="en-US" sz="1196" dirty="0"/>
          </a:p>
        </p:txBody>
      </p:sp>
      <p:sp>
        <p:nvSpPr>
          <p:cNvPr id="3" name="Text 1"/>
          <p:cNvSpPr/>
          <p:nvPr>
            <p:ph type="title"/>
          </p:nvPr>
        </p:nvSpPr>
        <p:spPr>
          <a:xfrm>
            <a:off x="812800" y="1125041"/>
            <a:ext cx="10883392" cy="521891"/>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0E1B33"/>
                </a:solidFill>
                <a:latin typeface="Fraunces" pitchFamily="18" charset="0"/>
                <a:ea typeface="Fraunces" pitchFamily="18" charset="-122"/>
                <a:cs typeface="Fraunces" pitchFamily="18" charset="-120"/>
              </a:rPr>
              <a:t>One teammate, two risky moments</a:t>
            </a:r>
            <a:endParaRPr lang="en-US" sz="3566" dirty="0"/>
          </a:p>
        </p:txBody>
      </p:sp>
      <p:sp>
        <p:nvSpPr>
          <p:cNvPr id="4" name="Shape 2"/>
          <p:cNvSpPr/>
          <p:nvPr/>
        </p:nvSpPr>
        <p:spPr>
          <a:xfrm>
            <a:off x="815975" y="1878707"/>
            <a:ext cx="4529386" cy="3434854"/>
          </a:xfrm>
          <a:prstGeom prst="roundRect">
            <a:avLst>
              <a:gd name="adj" fmla="val 2865"/>
            </a:avLst>
          </a:prstGeom>
          <a:solidFill>
            <a:srgbClr val="FFFEFB"/>
          </a:solidFill>
          <a:ln w="6350">
            <a:solidFill>
              <a:srgbClr val="E2DED4"/>
            </a:solidFill>
            <a:prstDash val="solid"/>
          </a:ln>
        </p:spPr>
        <p:txBody>
          <a:bodyPr/>
          <a:p/>
        </p:txBody>
      </p:sp>
      <p:sp>
        <p:nvSpPr>
          <p:cNvPr id="5" name="Text 3"/>
          <p:cNvSpPr/>
          <p:nvPr/>
        </p:nvSpPr>
        <p:spPr>
          <a:xfrm>
            <a:off x="1123950" y="2186682"/>
            <a:ext cx="40308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BEFORE THE LOAN</a:t>
            </a:r>
            <a:endParaRPr lang="en-US" sz="1200" dirty="0"/>
          </a:p>
        </p:txBody>
      </p:sp>
      <p:sp>
        <p:nvSpPr>
          <p:cNvPr id="6" name="Text 4"/>
          <p:cNvSpPr/>
          <p:nvPr/>
        </p:nvSpPr>
        <p:spPr>
          <a:xfrm>
            <a:off x="1123950" y="2552402"/>
            <a:ext cx="403083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Fraunces" pitchFamily="18" charset="0"/>
                <a:ea typeface="Fraunces" pitchFamily="18" charset="-122"/>
                <a:cs typeface="Fraunces" pitchFamily="18" charset="-120"/>
              </a:rPr>
              <a:t>Right-size</a:t>
            </a:r>
            <a:endParaRPr lang="en-US" sz="2200" dirty="0"/>
          </a:p>
        </p:txBody>
      </p:sp>
      <p:pic>
        <p:nvPicPr>
          <p:cNvPr id="7" name="Image 0" descr="Chart">    </p:cNvPr>
          <p:cNvPicPr>
            <a:picLocks noChangeAspect="1"/>
          </p:cNvPicPr>
          <p:nvPr/>
        </p:nvPicPr>
        <p:blipFill>
          <a:blip r:embed="rId1"/>
          <a:srcRect l="-481" r="-481" t="0" b="0"/>
          <a:stretch/>
        </p:blipFill>
        <p:spPr>
          <a:xfrm>
            <a:off x="1123950" y="3035808"/>
            <a:ext cx="166688" cy="228600"/>
          </a:xfrm>
          <a:prstGeom prst="rect">
            <a:avLst/>
          </a:prstGeom>
        </p:spPr>
      </p:pic>
      <p:sp>
        <p:nvSpPr>
          <p:cNvPr id="8" name="Text 5"/>
          <p:cNvSpPr/>
          <p:nvPr/>
        </p:nvSpPr>
        <p:spPr>
          <a:xfrm>
            <a:off x="1417638" y="3035808"/>
            <a:ext cx="2240280" cy="56692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Tests the daily installment against the merchant’s last 12 weeks of sales</a:t>
            </a:r>
            <a:endParaRPr lang="en-US" sz="1200" dirty="0"/>
          </a:p>
        </p:txBody>
      </p:sp>
      <p:pic>
        <p:nvPicPr>
          <p:cNvPr id="9" name="Image 1" descr="Chat">    </p:cNvPr>
          <p:cNvPicPr>
            <a:picLocks noChangeAspect="1"/>
          </p:cNvPicPr>
          <p:nvPr/>
        </p:nvPicPr>
        <p:blipFill>
          <a:blip r:embed="rId2"/>
          <a:srcRect l="0" r="0" t="0" b="0"/>
          <a:stretch/>
        </p:blipFill>
        <p:spPr>
          <a:xfrm>
            <a:off x="1123950" y="3675887"/>
            <a:ext cx="158750" cy="228600"/>
          </a:xfrm>
          <a:prstGeom prst="rect">
            <a:avLst/>
          </a:prstGeom>
        </p:spPr>
      </p:pic>
      <p:sp>
        <p:nvSpPr>
          <p:cNvPr id="10" name="Text 6"/>
          <p:cNvSpPr/>
          <p:nvPr/>
        </p:nvSpPr>
        <p:spPr>
          <a:xfrm>
            <a:off x="1409700" y="3675887"/>
            <a:ext cx="2240280" cy="56692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Shows what the installment leaves on the merchant’s slowest days, in their language</a:t>
            </a:r>
            <a:endParaRPr lang="en-US" sz="1200" dirty="0"/>
          </a:p>
        </p:txBody>
      </p:sp>
      <p:pic>
        <p:nvPicPr>
          <p:cNvPr id="11" name="Image 2" descr="ThumbsUp">    </p:cNvPr>
          <p:cNvPicPr>
            <a:picLocks noChangeAspect="1"/>
          </p:cNvPicPr>
          <p:nvPr/>
        </p:nvPicPr>
        <p:blipFill>
          <a:blip r:embed="rId3"/>
          <a:srcRect l="-661" r="-661" t="0" b="0"/>
          <a:stretch/>
        </p:blipFill>
        <p:spPr>
          <a:xfrm>
            <a:off x="1123950" y="4315968"/>
            <a:ext cx="167283" cy="228600"/>
          </a:xfrm>
          <a:prstGeom prst="rect">
            <a:avLst/>
          </a:prstGeom>
        </p:spPr>
      </p:pic>
      <p:sp>
        <p:nvSpPr>
          <p:cNvPr id="12" name="Text 7"/>
          <p:cNvSpPr/>
          <p:nvPr/>
        </p:nvSpPr>
        <p:spPr>
          <a:xfrm>
            <a:off x="1418233" y="4315968"/>
            <a:ext cx="2240280" cy="566928"/>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Suggests a size that keeps bad weeks manageable; the lender decides</a:t>
            </a:r>
            <a:endParaRPr lang="en-US" sz="1200" dirty="0"/>
          </a:p>
        </p:txBody>
      </p:sp>
      <p:sp>
        <p:nvSpPr>
          <p:cNvPr id="13" name="Shape 8"/>
          <p:cNvSpPr/>
          <p:nvPr/>
        </p:nvSpPr>
        <p:spPr>
          <a:xfrm>
            <a:off x="5551736" y="1875532"/>
            <a:ext cx="5827464" cy="3441204"/>
          </a:xfrm>
          <a:prstGeom prst="roundRect">
            <a:avLst>
              <a:gd name="adj" fmla="val 2952"/>
            </a:avLst>
          </a:prstGeom>
          <a:solidFill>
            <a:srgbClr val="0E1B33"/>
          </a:solidFill>
          <a:ln/>
        </p:spPr>
        <p:txBody>
          <a:bodyPr/>
          <a:p/>
        </p:txBody>
      </p:sp>
      <p:sp>
        <p:nvSpPr>
          <p:cNvPr id="14" name="Text 9"/>
          <p:cNvSpPr/>
          <p:nvPr/>
        </p:nvSpPr>
        <p:spPr>
          <a:xfrm>
            <a:off x="5856536" y="2129532"/>
            <a:ext cx="5374400" cy="235645"/>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F2A93B"/>
                </a:solidFill>
                <a:latin typeface="DM Sans" pitchFamily="34" charset="0"/>
                <a:ea typeface="DM Sans" pitchFamily="34" charset="-122"/>
                <a:cs typeface="DM Sans" pitchFamily="34" charset="-120"/>
              </a:rPr>
              <a:t>DURING THE LOAN</a:t>
            </a:r>
            <a:endParaRPr lang="en-US" sz="1196" dirty="0"/>
          </a:p>
        </p:txBody>
      </p:sp>
      <p:sp>
        <p:nvSpPr>
          <p:cNvPr id="15" name="Text 10"/>
          <p:cNvSpPr/>
          <p:nvPr/>
        </p:nvSpPr>
        <p:spPr>
          <a:xfrm>
            <a:off x="5856536" y="2492177"/>
            <a:ext cx="5374400" cy="355848"/>
          </a:xfrm>
          <a:prstGeom prst="rect">
            <a:avLst/>
          </a:prstGeom>
          <a:noFill/>
          <a:ln/>
        </p:spPr>
        <p:txBody>
          <a:bodyPr wrap="square" lIns="0" tIns="0" rIns="0" bIns="0" rtlCol="0" anchor="t">
            <a:normAutofit/>
          </a:bodyPr>
          <a:lstStyle/>
          <a:p>
            <a:pPr algn="l" indent="0" marL="0">
              <a:lnSpc>
                <a:spcPts val="2624"/>
              </a:lnSpc>
              <a:buNone/>
            </a:pPr>
            <a:r>
              <a:rPr lang="en-US" sz="2186" b="1" dirty="0">
                <a:solidFill>
                  <a:srgbClr val="F7F5F0"/>
                </a:solidFill>
                <a:latin typeface="Fraunces" pitchFamily="18" charset="0"/>
                <a:ea typeface="Fraunces" pitchFamily="18" charset="-122"/>
                <a:cs typeface="Fraunces" pitchFamily="18" charset="-120"/>
              </a:rPr>
              <a:t>Steady</a:t>
            </a:r>
            <a:endParaRPr lang="en-US" sz="2186" dirty="0"/>
          </a:p>
        </p:txBody>
      </p:sp>
      <p:sp>
        <p:nvSpPr>
          <p:cNvPr id="16" name="Text 11"/>
          <p:cNvSpPr/>
          <p:nvPr/>
        </p:nvSpPr>
        <p:spPr>
          <a:xfrm>
            <a:off x="5856536" y="2975025"/>
            <a:ext cx="2556365" cy="26511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93B"/>
                </a:solidFill>
                <a:latin typeface="DM Sans" pitchFamily="34" charset="0"/>
                <a:ea typeface="DM Sans" pitchFamily="34" charset="-122"/>
                <a:cs typeface="DM Sans" pitchFamily="34" charset="-120"/>
              </a:rPr>
              <a:t>1 · Detect</a:t>
            </a:r>
            <a:endParaRPr lang="en-US" sz="1600" dirty="0"/>
          </a:p>
        </p:txBody>
      </p:sp>
      <p:sp>
        <p:nvSpPr>
          <p:cNvPr id="17" name="Text 12"/>
          <p:cNvSpPr/>
          <p:nvPr/>
        </p:nvSpPr>
        <p:spPr>
          <a:xfrm>
            <a:off x="5856536" y="3265537"/>
            <a:ext cx="2556365" cy="677118"/>
          </a:xfrm>
          <a:prstGeom prst="rect">
            <a:avLst/>
          </a:prstGeom>
          <a:noFill/>
          <a:ln/>
        </p:spPr>
        <p:txBody>
          <a:bodyPr wrap="square" lIns="0" tIns="0" rIns="0" bIns="0" rtlCol="0" anchor="t">
            <a:normAutofit/>
          </a:bodyPr>
          <a:lstStyle/>
          <a:p>
            <a:pPr algn="l" indent="0" marL="0">
              <a:lnSpc>
                <a:spcPts val="1724"/>
              </a:lnSpc>
              <a:buNone/>
            </a:pPr>
            <a:r>
              <a:rPr lang="en-US" sz="1189" dirty="0">
                <a:solidFill>
                  <a:srgbClr val="D6DCE7"/>
                </a:solidFill>
                <a:latin typeface="DM Sans" pitchFamily="34" charset="0"/>
                <a:ea typeface="DM Sans" pitchFamily="34" charset="-122"/>
                <a:cs typeface="DM Sans" pitchFamily="34" charset="-120"/>
              </a:rPr>
              <a:t>Flags two days below half of normal, before a payment is missed; spots whole-area dips</a:t>
            </a:r>
            <a:endParaRPr lang="en-US" sz="1189" dirty="0"/>
          </a:p>
        </p:txBody>
      </p:sp>
      <p:sp>
        <p:nvSpPr>
          <p:cNvPr id="18" name="Text 13"/>
          <p:cNvSpPr/>
          <p:nvPr/>
        </p:nvSpPr>
        <p:spPr>
          <a:xfrm>
            <a:off x="8592443" y="2975025"/>
            <a:ext cx="25564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93B"/>
                </a:solidFill>
                <a:latin typeface="DM Sans" pitchFamily="34" charset="0"/>
                <a:ea typeface="DM Sans" pitchFamily="34" charset="-122"/>
                <a:cs typeface="DM Sans" pitchFamily="34" charset="-120"/>
              </a:rPr>
              <a:t>2 · Talk</a:t>
            </a:r>
            <a:endParaRPr lang="en-US" sz="1600" dirty="0"/>
          </a:p>
        </p:txBody>
      </p:sp>
      <p:sp>
        <p:nvSpPr>
          <p:cNvPr id="19" name="Text 14"/>
          <p:cNvSpPr/>
          <p:nvPr/>
        </p:nvSpPr>
        <p:spPr>
          <a:xfrm>
            <a:off x="8592443" y="3269655"/>
            <a:ext cx="255641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Voice note or call in the merchant’s language, inside the RBI rules</a:t>
            </a:r>
            <a:endParaRPr lang="en-US" sz="1200" dirty="0"/>
          </a:p>
        </p:txBody>
      </p:sp>
      <p:sp>
        <p:nvSpPr>
          <p:cNvPr id="20" name="Text 15"/>
          <p:cNvSpPr/>
          <p:nvPr/>
        </p:nvSpPr>
        <p:spPr>
          <a:xfrm>
            <a:off x="5856536" y="4120455"/>
            <a:ext cx="2556365" cy="26511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93B"/>
                </a:solidFill>
                <a:latin typeface="DM Sans" pitchFamily="34" charset="0"/>
                <a:ea typeface="DM Sans" pitchFamily="34" charset="-122"/>
                <a:cs typeface="DM Sans" pitchFamily="34" charset="-120"/>
              </a:rPr>
              <a:t>3 · Fix</a:t>
            </a:r>
            <a:endParaRPr lang="en-US" sz="1600" dirty="0"/>
          </a:p>
        </p:txBody>
      </p:sp>
      <p:sp>
        <p:nvSpPr>
          <p:cNvPr id="21" name="Text 16"/>
          <p:cNvSpPr/>
          <p:nvPr/>
        </p:nvSpPr>
        <p:spPr>
          <a:xfrm>
            <a:off x="5856536" y="4410968"/>
            <a:ext cx="2556365" cy="677168"/>
          </a:xfrm>
          <a:prstGeom prst="rect">
            <a:avLst/>
          </a:prstGeom>
          <a:noFill/>
          <a:ln/>
        </p:spPr>
        <p:txBody>
          <a:bodyPr wrap="square" lIns="0" tIns="0" rIns="0" bIns="0" rtlCol="0" anchor="t">
            <a:normAutofit/>
          </a:bodyPr>
          <a:lstStyle/>
          <a:p>
            <a:pPr algn="l" indent="0" marL="0">
              <a:lnSpc>
                <a:spcPts val="1724"/>
              </a:lnSpc>
              <a:buNone/>
            </a:pPr>
            <a:r>
              <a:rPr lang="en-US" sz="1189" dirty="0">
                <a:solidFill>
                  <a:srgbClr val="D6DCE7"/>
                </a:solidFill>
                <a:latin typeface="DM Sans" pitchFamily="34" charset="0"/>
                <a:ea typeface="DM Sans" pitchFamily="34" charset="-122"/>
                <a:cs typeface="DM Sans" pitchFamily="34" charset="-120"/>
              </a:rPr>
              <a:t>Offers only lender-approved options: a short pause, smaller catch-ups, part-payment</a:t>
            </a:r>
            <a:endParaRPr lang="en-US" sz="1189" dirty="0"/>
          </a:p>
        </p:txBody>
      </p:sp>
      <p:sp>
        <p:nvSpPr>
          <p:cNvPr id="22" name="Text 17"/>
          <p:cNvSpPr/>
          <p:nvPr/>
        </p:nvSpPr>
        <p:spPr>
          <a:xfrm>
            <a:off x="8592443" y="4120455"/>
            <a:ext cx="25564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93B"/>
                </a:solidFill>
                <a:latin typeface="DM Sans" pitchFamily="34" charset="0"/>
                <a:ea typeface="DM Sans" pitchFamily="34" charset="-122"/>
                <a:cs typeface="DM Sans" pitchFamily="34" charset="-120"/>
              </a:rPr>
              <a:t>4 · Verify</a:t>
            </a:r>
            <a:endParaRPr lang="en-US" sz="1600" dirty="0"/>
          </a:p>
        </p:txBody>
      </p:sp>
      <p:sp>
        <p:nvSpPr>
          <p:cNvPr id="23" name="Text 18"/>
          <p:cNvSpPr/>
          <p:nvPr/>
        </p:nvSpPr>
        <p:spPr>
          <a:xfrm>
            <a:off x="8592443" y="4415086"/>
            <a:ext cx="255641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Watches sales recover, closes the case, then helps the merchant prepare</a:t>
            </a:r>
            <a:endParaRPr lang="en-US" sz="1200" dirty="0"/>
          </a:p>
        </p:txBody>
      </p:sp>
      <p:sp>
        <p:nvSpPr>
          <p:cNvPr id="24" name="Text 19"/>
          <p:cNvSpPr/>
          <p:nvPr/>
        </p:nvSpPr>
        <p:spPr>
          <a:xfrm>
            <a:off x="812800" y="5570736"/>
            <a:ext cx="10883392" cy="296664"/>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0E1B33"/>
                </a:solidFill>
                <a:latin typeface="DM Sans" pitchFamily="34" charset="0"/>
                <a:ea typeface="DM Sans" pitchFamily="34" charset="-122"/>
                <a:cs typeface="DM Sans" pitchFamily="34" charset="-120"/>
              </a:rPr>
              <a:t>Sambhal never sets credit terms or invents offers.</a:t>
            </a:r>
            <a:r>
              <a:rPr lang="en-US" sz="1600" dirty="0">
                <a:solidFill>
                  <a:srgbClr val="0E1B33"/>
                </a:solidFill>
                <a:latin typeface="DM Sans" pitchFamily="34" charset="0"/>
                <a:ea typeface="DM Sans" pitchFamily="34" charset="-122"/>
                <a:cs typeface="DM Sans" pitchFamily="34" charset="-120"/>
              </a:rPr>
              <a:t> Lenders keep every decision.</a:t>
            </a:r>
            <a:endParaRPr lang="en-US" sz="1600" dirty="0"/>
          </a:p>
        </p:txBody>
      </p:sp>
      <p:sp>
        <p:nvSpPr>
          <p:cNvPr id="25"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26"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05</a:t>
            </a:r>
            <a:endParaRPr lang="en-US" sz="1200" dirty="0"/>
          </a:p>
        </p:txBody>
      </p:sp>
      <p:pic>
        <p:nvPicPr>
          <p:cNvPr id="27" name="Picture 26" descr="p9_sizer.png"/>
          <p:cNvPicPr>
            <a:picLocks noChangeAspect="1"/>
          </p:cNvPicPr>
          <p:nvPr/>
        </p:nvPicPr>
        <p:blipFill>
          <a:blip r:embed="rId6"/>
          <a:stretch>
            <a:fillRect/>
          </a:stretch>
        </p:blipFill>
        <p:spPr>
          <a:xfrm>
            <a:off x="3687180" y="2034155"/>
            <a:ext cx="1457013" cy="31272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HOW IT WORKS · DEMO STORY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A bad week, handled: Ravi’s kirana</a:t>
            </a:r>
            <a:endParaRPr lang="en-US" sz="3600" dirty="0"/>
          </a:p>
        </p:txBody>
      </p:sp>
      <p:sp>
        <p:nvSpPr>
          <p:cNvPr id="4" name="Shape 2"/>
          <p:cNvSpPr/>
          <p:nvPr/>
        </p:nvSpPr>
        <p:spPr>
          <a:xfrm>
            <a:off x="812800" y="1910011"/>
            <a:ext cx="1991320" cy="1887091"/>
          </a:xfrm>
          <a:prstGeom prst="roundRect">
            <a:avLst>
              <a:gd name="adj" fmla="val 4038"/>
            </a:avLst>
          </a:prstGeom>
          <a:solidFill>
            <a:srgbClr val="FFFEFB"/>
          </a:solidFill>
          <a:ln/>
        </p:spPr>
        <p:txBody>
          <a:bodyPr/>
          <a:p/>
        </p:txBody>
      </p:sp>
      <p:sp>
        <p:nvSpPr>
          <p:cNvPr id="5" name="Shape 3"/>
          <p:cNvSpPr/>
          <p:nvPr/>
        </p:nvSpPr>
        <p:spPr>
          <a:xfrm>
            <a:off x="812800" y="1910011"/>
            <a:ext cx="1991320" cy="1887091"/>
          </a:xfrm>
          <a:custGeom>
            <a:avLst/>
            <a:gdLst/>
            <a:ahLst/>
            <a:cxnLst/>
            <a:rect l="l" t="t" r="r" b="b"/>
            <a:pathLst>
              <a:path w="1991320" h="1887091">
                <a:moveTo>
                  <a:pt x="0" y="76200"/>
                </a:moveTo>
                <a:lnTo>
                  <a:pt x="0" y="76200"/>
                </a:lnTo>
                <a:arcTo hR="76200" wR="76200" stAng="10800000" swAng="5400000"/>
                <a:lnTo>
                  <a:pt x="1915120" y="0"/>
                </a:lnTo>
                <a:arcTo hR="76200" wR="76200" stAng="16200000" swAng="5400000"/>
                <a:lnTo>
                  <a:pt x="1991320" y="76200"/>
                </a:lnTo>
                <a:arcTo hR="38100" wR="76200" stAng="0" swAng="-5400000"/>
                <a:lnTo>
                  <a:pt x="76200" y="38100"/>
                </a:lnTo>
                <a:arcTo hR="38100" wR="76200" stAng="16200000" swAng="-5400000"/>
                <a:close/>
              </a:path>
            </a:pathLst>
          </a:custGeom>
          <a:solidFill>
            <a:srgbClr val="F2A93B"/>
          </a:solidFill>
          <a:ln/>
        </p:spPr>
        <p:txBody>
          <a:bodyPr/>
          <a:p/>
        </p:txBody>
      </p:sp>
      <p:sp>
        <p:nvSpPr>
          <p:cNvPr id="6" name="Text 4"/>
          <p:cNvSpPr/>
          <p:nvPr/>
        </p:nvSpPr>
        <p:spPr>
          <a:xfrm>
            <a:off x="1016000" y="2151311"/>
            <a:ext cx="16357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4560A"/>
                </a:solidFill>
                <a:latin typeface="DM Sans" pitchFamily="34" charset="0"/>
                <a:ea typeface="DM Sans" pitchFamily="34" charset="-122"/>
                <a:cs typeface="DM Sans" pitchFamily="34" charset="-120"/>
              </a:rPr>
              <a:t>Thu 9:05 pm</a:t>
            </a:r>
            <a:endParaRPr lang="en-US" sz="1200" dirty="0"/>
          </a:p>
        </p:txBody>
      </p:sp>
      <p:sp>
        <p:nvSpPr>
          <p:cNvPr id="7" name="Text 5"/>
          <p:cNvSpPr/>
          <p:nvPr/>
        </p:nvSpPr>
        <p:spPr>
          <a:xfrm>
            <a:off x="1016000" y="2415431"/>
            <a:ext cx="16357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Detect</a:t>
            </a:r>
            <a:endParaRPr lang="en-US" sz="1600" dirty="0"/>
          </a:p>
        </p:txBody>
      </p:sp>
      <p:sp>
        <p:nvSpPr>
          <p:cNvPr id="8" name="Text 6"/>
          <p:cNvSpPr/>
          <p:nvPr/>
        </p:nvSpPr>
        <p:spPr>
          <a:xfrm>
            <a:off x="1016000" y="2710061"/>
            <a:ext cx="163572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Second day below half (31%). Flagged before any miss; held till 8 am.</a:t>
            </a:r>
            <a:endParaRPr lang="en-US" sz="1200" dirty="0"/>
          </a:p>
        </p:txBody>
      </p:sp>
      <p:sp>
        <p:nvSpPr>
          <p:cNvPr id="9" name="Shape 7"/>
          <p:cNvSpPr/>
          <p:nvPr/>
        </p:nvSpPr>
        <p:spPr>
          <a:xfrm>
            <a:off x="2956520" y="1910011"/>
            <a:ext cx="1991370" cy="1887091"/>
          </a:xfrm>
          <a:prstGeom prst="roundRect">
            <a:avLst>
              <a:gd name="adj" fmla="val 4038"/>
            </a:avLst>
          </a:prstGeom>
          <a:solidFill>
            <a:srgbClr val="FFFEFB"/>
          </a:solidFill>
          <a:ln/>
        </p:spPr>
        <p:txBody>
          <a:bodyPr/>
          <a:p/>
        </p:txBody>
      </p:sp>
      <p:sp>
        <p:nvSpPr>
          <p:cNvPr id="10" name="Shape 8"/>
          <p:cNvSpPr/>
          <p:nvPr/>
        </p:nvSpPr>
        <p:spPr>
          <a:xfrm>
            <a:off x="2956520" y="1910011"/>
            <a:ext cx="1991370" cy="1887091"/>
          </a:xfrm>
          <a:custGeom>
            <a:avLst/>
            <a:gdLst/>
            <a:ahLst/>
            <a:cxnLst/>
            <a:rect l="l" t="t" r="r" b="b"/>
            <a:pathLst>
              <a:path w="1991370" h="188709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F2A93B"/>
          </a:solidFill>
          <a:ln/>
        </p:spPr>
        <p:txBody>
          <a:bodyPr/>
          <a:p/>
        </p:txBody>
      </p:sp>
      <p:sp>
        <p:nvSpPr>
          <p:cNvPr id="11" name="Text 9"/>
          <p:cNvSpPr/>
          <p:nvPr/>
        </p:nvSpPr>
        <p:spPr>
          <a:xfrm>
            <a:off x="3159720" y="2151311"/>
            <a:ext cx="1635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4560A"/>
                </a:solidFill>
                <a:latin typeface="DM Sans" pitchFamily="34" charset="0"/>
                <a:ea typeface="DM Sans" pitchFamily="34" charset="-122"/>
                <a:cs typeface="DM Sans" pitchFamily="34" charset="-120"/>
              </a:rPr>
              <a:t>Fri 8:00 am</a:t>
            </a:r>
            <a:endParaRPr lang="en-US" sz="1200" dirty="0"/>
          </a:p>
        </p:txBody>
      </p:sp>
      <p:sp>
        <p:nvSpPr>
          <p:cNvPr id="12" name="Text 10"/>
          <p:cNvSpPr/>
          <p:nvPr/>
        </p:nvSpPr>
        <p:spPr>
          <a:xfrm>
            <a:off x="3159720" y="2415431"/>
            <a:ext cx="1635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Talk</a:t>
            </a:r>
            <a:endParaRPr lang="en-US" sz="1600" dirty="0"/>
          </a:p>
        </p:txBody>
      </p:sp>
      <p:sp>
        <p:nvSpPr>
          <p:cNvPr id="13" name="Text 11"/>
          <p:cNvSpPr/>
          <p:nvPr/>
        </p:nvSpPr>
        <p:spPr>
          <a:xfrm>
            <a:off x="3159720" y="2710061"/>
            <a:ext cx="1635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Kannada voice note, recording notice first: “Slow week? We can help.”</a:t>
            </a:r>
            <a:endParaRPr lang="en-US" sz="1200" dirty="0"/>
          </a:p>
        </p:txBody>
      </p:sp>
      <p:sp>
        <p:nvSpPr>
          <p:cNvPr id="14" name="Shape 12"/>
          <p:cNvSpPr/>
          <p:nvPr/>
        </p:nvSpPr>
        <p:spPr>
          <a:xfrm>
            <a:off x="5100290" y="1910011"/>
            <a:ext cx="1991370" cy="1887091"/>
          </a:xfrm>
          <a:prstGeom prst="roundRect">
            <a:avLst>
              <a:gd name="adj" fmla="val 4038"/>
            </a:avLst>
          </a:prstGeom>
          <a:solidFill>
            <a:srgbClr val="FFFEFB"/>
          </a:solidFill>
          <a:ln/>
        </p:spPr>
        <p:txBody>
          <a:bodyPr/>
          <a:p/>
        </p:txBody>
      </p:sp>
      <p:sp>
        <p:nvSpPr>
          <p:cNvPr id="15" name="Shape 13"/>
          <p:cNvSpPr/>
          <p:nvPr/>
        </p:nvSpPr>
        <p:spPr>
          <a:xfrm>
            <a:off x="5100290" y="1910011"/>
            <a:ext cx="1991370" cy="1887091"/>
          </a:xfrm>
          <a:custGeom>
            <a:avLst/>
            <a:gdLst/>
            <a:ahLst/>
            <a:cxnLst/>
            <a:rect l="l" t="t" r="r" b="b"/>
            <a:pathLst>
              <a:path w="1991370" h="188709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F2A93B"/>
          </a:solidFill>
          <a:ln/>
        </p:spPr>
        <p:txBody>
          <a:bodyPr/>
          <a:p/>
        </p:txBody>
      </p:sp>
      <p:sp>
        <p:nvSpPr>
          <p:cNvPr id="16" name="Text 14"/>
          <p:cNvSpPr/>
          <p:nvPr/>
        </p:nvSpPr>
        <p:spPr>
          <a:xfrm>
            <a:off x="5303490" y="2151311"/>
            <a:ext cx="1635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4560A"/>
                </a:solidFill>
                <a:latin typeface="DM Sans" pitchFamily="34" charset="0"/>
                <a:ea typeface="DM Sans" pitchFamily="34" charset="-122"/>
                <a:cs typeface="DM Sans" pitchFamily="34" charset="-120"/>
              </a:rPr>
              <a:t>Fri 8:20 am</a:t>
            </a:r>
            <a:endParaRPr lang="en-US" sz="1200" dirty="0"/>
          </a:p>
        </p:txBody>
      </p:sp>
      <p:sp>
        <p:nvSpPr>
          <p:cNvPr id="17" name="Text 15"/>
          <p:cNvSpPr/>
          <p:nvPr/>
        </p:nvSpPr>
        <p:spPr>
          <a:xfrm>
            <a:off x="5303490" y="2415431"/>
            <a:ext cx="1635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Understand</a:t>
            </a:r>
            <a:endParaRPr lang="en-US" sz="1600" dirty="0"/>
          </a:p>
        </p:txBody>
      </p:sp>
      <p:sp>
        <p:nvSpPr>
          <p:cNvPr id="18" name="Text 16"/>
          <p:cNvSpPr/>
          <p:nvPr/>
        </p:nvSpPr>
        <p:spPr>
          <a:xfrm>
            <a:off x="5303490" y="2710061"/>
            <a:ext cx="1635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“Wedding at home, shop shut till Sunday.” No contact until Monday.</a:t>
            </a:r>
            <a:endParaRPr lang="en-US" sz="1200" dirty="0"/>
          </a:p>
        </p:txBody>
      </p:sp>
      <p:sp>
        <p:nvSpPr>
          <p:cNvPr id="19" name="Shape 17"/>
          <p:cNvSpPr/>
          <p:nvPr/>
        </p:nvSpPr>
        <p:spPr>
          <a:xfrm>
            <a:off x="7244060" y="1910011"/>
            <a:ext cx="1991370" cy="1887091"/>
          </a:xfrm>
          <a:prstGeom prst="roundRect">
            <a:avLst>
              <a:gd name="adj" fmla="val 4038"/>
            </a:avLst>
          </a:prstGeom>
          <a:solidFill>
            <a:srgbClr val="FFFEFB"/>
          </a:solidFill>
          <a:ln/>
        </p:spPr>
        <p:txBody>
          <a:bodyPr/>
          <a:p/>
        </p:txBody>
      </p:sp>
      <p:sp>
        <p:nvSpPr>
          <p:cNvPr id="20" name="Shape 18"/>
          <p:cNvSpPr/>
          <p:nvPr/>
        </p:nvSpPr>
        <p:spPr>
          <a:xfrm>
            <a:off x="7244060" y="1910011"/>
            <a:ext cx="1991370" cy="1887091"/>
          </a:xfrm>
          <a:custGeom>
            <a:avLst/>
            <a:gdLst/>
            <a:ahLst/>
            <a:cxnLst/>
            <a:rect l="l" t="t" r="r" b="b"/>
            <a:pathLst>
              <a:path w="1991370" h="188709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F2A93B"/>
          </a:solidFill>
          <a:ln/>
        </p:spPr>
        <p:txBody>
          <a:bodyPr/>
          <a:p/>
        </p:txBody>
      </p:sp>
      <p:sp>
        <p:nvSpPr>
          <p:cNvPr id="21" name="Text 19"/>
          <p:cNvSpPr/>
          <p:nvPr/>
        </p:nvSpPr>
        <p:spPr>
          <a:xfrm>
            <a:off x="7447260" y="2151311"/>
            <a:ext cx="1635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4560A"/>
                </a:solidFill>
                <a:latin typeface="DM Sans" pitchFamily="34" charset="0"/>
                <a:ea typeface="DM Sans" pitchFamily="34" charset="-122"/>
                <a:cs typeface="DM Sans" pitchFamily="34" charset="-120"/>
              </a:rPr>
              <a:t>Fri 8:22 am</a:t>
            </a:r>
            <a:endParaRPr lang="en-US" sz="1200" dirty="0"/>
          </a:p>
        </p:txBody>
      </p:sp>
      <p:sp>
        <p:nvSpPr>
          <p:cNvPr id="22" name="Text 20"/>
          <p:cNvSpPr/>
          <p:nvPr/>
        </p:nvSpPr>
        <p:spPr>
          <a:xfrm>
            <a:off x="7447260" y="2415431"/>
            <a:ext cx="1635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Fix</a:t>
            </a:r>
            <a:endParaRPr lang="en-US" sz="1600" dirty="0"/>
          </a:p>
        </p:txBody>
      </p:sp>
      <p:sp>
        <p:nvSpPr>
          <p:cNvPr id="23" name="Text 21"/>
          <p:cNvSpPr/>
          <p:nvPr/>
        </p:nvSpPr>
        <p:spPr>
          <a:xfrm>
            <a:off x="7447260" y="2710061"/>
            <a:ext cx="1635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Lender allows a 3-day pause: ₹2,550 spread over 14 days. Ravi taps Accept.</a:t>
            </a:r>
            <a:endParaRPr lang="en-US" sz="1200" dirty="0"/>
          </a:p>
        </p:txBody>
      </p:sp>
      <p:sp>
        <p:nvSpPr>
          <p:cNvPr id="24" name="Shape 22"/>
          <p:cNvSpPr/>
          <p:nvPr/>
        </p:nvSpPr>
        <p:spPr>
          <a:xfrm>
            <a:off x="9387830" y="1910011"/>
            <a:ext cx="1991370" cy="1887091"/>
          </a:xfrm>
          <a:prstGeom prst="roundRect">
            <a:avLst>
              <a:gd name="adj" fmla="val 4038"/>
            </a:avLst>
          </a:prstGeom>
          <a:solidFill>
            <a:srgbClr val="FFFEFB"/>
          </a:solidFill>
          <a:ln/>
        </p:spPr>
        <p:txBody>
          <a:bodyPr/>
          <a:p/>
        </p:txBody>
      </p:sp>
      <p:sp>
        <p:nvSpPr>
          <p:cNvPr id="25" name="Shape 23"/>
          <p:cNvSpPr/>
          <p:nvPr/>
        </p:nvSpPr>
        <p:spPr>
          <a:xfrm>
            <a:off x="9387830" y="1910011"/>
            <a:ext cx="1991370" cy="1887091"/>
          </a:xfrm>
          <a:custGeom>
            <a:avLst/>
            <a:gdLst/>
            <a:ahLst/>
            <a:cxnLst/>
            <a:rect l="l" t="t" r="r" b="b"/>
            <a:pathLst>
              <a:path w="1991370" h="188709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E7B6E"/>
          </a:solidFill>
          <a:ln/>
        </p:spPr>
        <p:txBody>
          <a:bodyPr/>
          <a:p/>
        </p:txBody>
      </p:sp>
      <p:sp>
        <p:nvSpPr>
          <p:cNvPr id="26" name="Text 24"/>
          <p:cNvSpPr/>
          <p:nvPr/>
        </p:nvSpPr>
        <p:spPr>
          <a:xfrm>
            <a:off x="9591030" y="2151311"/>
            <a:ext cx="1635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B6E"/>
                </a:solidFill>
                <a:latin typeface="DM Sans" pitchFamily="34" charset="0"/>
                <a:ea typeface="DM Sans" pitchFamily="34" charset="-122"/>
                <a:cs typeface="DM Sans" pitchFamily="34" charset="-120"/>
              </a:rPr>
              <a:t>Tue 8:00 am</a:t>
            </a:r>
            <a:endParaRPr lang="en-US" sz="1200" dirty="0"/>
          </a:p>
        </p:txBody>
      </p:sp>
      <p:sp>
        <p:nvSpPr>
          <p:cNvPr id="27" name="Text 25"/>
          <p:cNvSpPr/>
          <p:nvPr/>
        </p:nvSpPr>
        <p:spPr>
          <a:xfrm>
            <a:off x="9591030" y="2415431"/>
            <a:ext cx="1635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Verify</a:t>
            </a:r>
            <a:endParaRPr lang="en-US" sz="1600" dirty="0"/>
          </a:p>
        </p:txBody>
      </p:sp>
      <p:sp>
        <p:nvSpPr>
          <p:cNvPr id="28" name="Text 26"/>
          <p:cNvSpPr/>
          <p:nvPr/>
        </p:nvSpPr>
        <p:spPr>
          <a:xfrm>
            <a:off x="9591030" y="2710061"/>
            <a:ext cx="1635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Sales recover. Case closed, every step on record. Pay-ahead offered.</a:t>
            </a:r>
            <a:endParaRPr lang="en-US" sz="1200" dirty="0"/>
          </a:p>
        </p:txBody>
      </p:sp>
      <p:sp>
        <p:nvSpPr>
          <p:cNvPr id="29" name="Shape 27"/>
          <p:cNvSpPr/>
          <p:nvPr/>
        </p:nvSpPr>
        <p:spPr>
          <a:xfrm>
            <a:off x="815975" y="4092377"/>
            <a:ext cx="4781550" cy="1443881"/>
          </a:xfrm>
          <a:prstGeom prst="roundRect">
            <a:avLst>
              <a:gd name="adj" fmla="val 6817"/>
            </a:avLst>
          </a:prstGeom>
          <a:solidFill>
            <a:srgbClr val="FFFEFB"/>
          </a:solidFill>
          <a:ln w="6350">
            <a:solidFill>
              <a:srgbClr val="D9DEE7"/>
            </a:solidFill>
            <a:prstDash val="solid"/>
          </a:ln>
        </p:spPr>
        <p:txBody>
          <a:bodyPr/>
          <a:p/>
        </p:txBody>
      </p:sp>
      <p:sp>
        <p:nvSpPr>
          <p:cNvPr id="30" name="Text 28"/>
          <p:cNvSpPr/>
          <p:nvPr/>
        </p:nvSpPr>
        <p:spPr>
          <a:xfrm>
            <a:off x="1073150" y="4298752"/>
            <a:ext cx="4395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6679"/>
                </a:solidFill>
                <a:latin typeface="DM Sans" pitchFamily="34" charset="0"/>
                <a:ea typeface="DM Sans" pitchFamily="34" charset="-122"/>
                <a:cs typeface="DM Sans" pitchFamily="34" charset="-120"/>
              </a:rPr>
              <a:t>Monday’s deduction without Sambhal</a:t>
            </a:r>
            <a:endParaRPr lang="en-US" sz="1200" dirty="0"/>
          </a:p>
        </p:txBody>
      </p:sp>
      <p:sp>
        <p:nvSpPr>
          <p:cNvPr id="31" name="Text 29"/>
          <p:cNvSpPr/>
          <p:nvPr/>
        </p:nvSpPr>
        <p:spPr>
          <a:xfrm>
            <a:off x="1073150" y="4562872"/>
            <a:ext cx="439521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D6679"/>
                </a:solidFill>
                <a:latin typeface="Fraunces" pitchFamily="18" charset="0"/>
                <a:ea typeface="Fraunces" pitchFamily="18" charset="-122"/>
                <a:cs typeface="Fraunces" pitchFamily="18" charset="-120"/>
              </a:rPr>
              <a:t>₹3,400</a:t>
            </a:r>
            <a:endParaRPr lang="en-US" sz="3600" dirty="0"/>
          </a:p>
        </p:txBody>
      </p:sp>
      <p:sp>
        <p:nvSpPr>
          <p:cNvPr id="32" name="Text 30"/>
          <p:cNvSpPr/>
          <p:nvPr/>
        </p:nvSpPr>
        <p:spPr>
          <a:xfrm>
            <a:off x="1073150" y="5116562"/>
            <a:ext cx="4395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57% of the day’s sales in one sweep (our model, as PhonePe documents)</a:t>
            </a:r>
            <a:endParaRPr lang="en-US" sz="1200" dirty="0"/>
          </a:p>
        </p:txBody>
      </p:sp>
      <p:pic>
        <p:nvPicPr>
          <p:cNvPr id="33" name="Image 0" descr="arrow-right">    </p:cNvPr>
          <p:cNvPicPr>
            <a:picLocks noChangeAspect="1"/>
          </p:cNvPicPr>
          <p:nvPr/>
        </p:nvPicPr>
        <p:blipFill>
          <a:blip r:embed="rId1"/>
          <a:srcRect l="0" r="0" t="0" b="0"/>
          <a:stretch/>
        </p:blipFill>
        <p:spPr>
          <a:xfrm>
            <a:off x="5854700" y="4699992"/>
            <a:ext cx="457200" cy="228600"/>
          </a:xfrm>
          <a:prstGeom prst="rect">
            <a:avLst/>
          </a:prstGeom>
        </p:spPr>
      </p:pic>
      <p:sp>
        <p:nvSpPr>
          <p:cNvPr id="34" name="Shape 31"/>
          <p:cNvSpPr/>
          <p:nvPr/>
        </p:nvSpPr>
        <p:spPr>
          <a:xfrm>
            <a:off x="6575425" y="4086027"/>
            <a:ext cx="4794250" cy="1456581"/>
          </a:xfrm>
          <a:prstGeom prst="roundRect">
            <a:avLst>
              <a:gd name="adj" fmla="val 6321"/>
            </a:avLst>
          </a:prstGeom>
          <a:solidFill>
            <a:srgbClr val="FFFEFB"/>
          </a:solidFill>
          <a:ln w="19050">
            <a:solidFill>
              <a:srgbClr val="1E7B6E"/>
            </a:solidFill>
            <a:prstDash val="solid"/>
          </a:ln>
        </p:spPr>
        <p:txBody>
          <a:bodyPr/>
          <a:p/>
        </p:txBody>
      </p:sp>
      <p:sp>
        <p:nvSpPr>
          <p:cNvPr id="35" name="Text 32"/>
          <p:cNvSpPr/>
          <p:nvPr/>
        </p:nvSpPr>
        <p:spPr>
          <a:xfrm>
            <a:off x="6838950" y="4298752"/>
            <a:ext cx="4395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7B6E"/>
                </a:solidFill>
                <a:latin typeface="DM Sans" pitchFamily="34" charset="0"/>
                <a:ea typeface="DM Sans" pitchFamily="34" charset="-122"/>
                <a:cs typeface="DM Sans" pitchFamily="34" charset="-120"/>
              </a:rPr>
              <a:t>With Sambhal</a:t>
            </a:r>
            <a:endParaRPr lang="en-US" sz="1200" dirty="0"/>
          </a:p>
        </p:txBody>
      </p:sp>
      <p:sp>
        <p:nvSpPr>
          <p:cNvPr id="36" name="Text 33"/>
          <p:cNvSpPr/>
          <p:nvPr/>
        </p:nvSpPr>
        <p:spPr>
          <a:xfrm>
            <a:off x="6838950" y="4562872"/>
            <a:ext cx="439521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E7B6E"/>
                </a:solidFill>
                <a:latin typeface="Fraunces" pitchFamily="18" charset="0"/>
                <a:ea typeface="Fraunces" pitchFamily="18" charset="-122"/>
                <a:cs typeface="Fraunces" pitchFamily="18" charset="-120"/>
              </a:rPr>
              <a:t>₹1,032</a:t>
            </a:r>
            <a:endParaRPr lang="en-US" sz="3600" dirty="0"/>
          </a:p>
        </p:txBody>
      </p:sp>
      <p:sp>
        <p:nvSpPr>
          <p:cNvPr id="37" name="Text 34"/>
          <p:cNvSpPr/>
          <p:nvPr/>
        </p:nvSpPr>
        <p:spPr>
          <a:xfrm>
            <a:off x="6838950" y="5116562"/>
            <a:ext cx="4395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17%: the usual ₹850 plus ₹182 catch-up</a:t>
            </a:r>
            <a:endParaRPr lang="en-US" sz="1200" dirty="0"/>
          </a:p>
        </p:txBody>
      </p:sp>
      <p:sp>
        <p:nvSpPr>
          <p:cNvPr id="38" name="Text 3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Synthetic kirana, ₹850 a day, shut Fri–Sun. Without Sambhal the backlog is either swept from Monday’s sales or overdue on his record; Sambhal prevents both.</a:t>
            </a:r>
            <a:endParaRPr lang="en-US" sz="1200" dirty="0"/>
          </a:p>
        </p:txBody>
      </p:sp>
      <p:sp>
        <p:nvSpPr>
          <p:cNvPr id="39" name="Text 3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THE MERCHANT’S APP · WORKING PROTOTYPE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Built for a busy counter, in his language</a:t>
            </a:r>
            <a:endParaRPr lang="en-US" sz="3600" dirty="0"/>
          </a:p>
        </p:txBody>
      </p:sp>
      <p:sp>
        <p:nvSpPr>
          <p:cNvPr id="45"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46" name="Text 4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07</a:t>
            </a:r>
            <a:endParaRPr lang="en-US" sz="1200" dirty="0"/>
          </a:p>
        </p:txBody>
      </p:sp>
      <p:pic>
        <p:nvPicPr>
          <p:cNvPr id="47" name="Picture 46" descr="p1_home.png"/>
          <p:cNvPicPr>
            <a:picLocks noChangeAspect="1"/>
          </p:cNvPicPr>
          <p:nvPr/>
        </p:nvPicPr>
        <p:blipFill>
          <a:blip r:embed="rId5"/>
          <a:stretch>
            <a:fillRect/>
          </a:stretch>
        </p:blipFill>
        <p:spPr>
          <a:xfrm>
            <a:off x="813816" y="1810512"/>
            <a:ext cx="1700784" cy="3650463"/>
          </a:xfrm>
          <a:prstGeom prst="rect">
            <a:avLst/>
          </a:prstGeom>
        </p:spPr>
      </p:pic>
      <p:sp>
        <p:nvSpPr>
          <p:cNvPr id="48" name="TextBox 47"/>
          <p:cNvSpPr txBox="1"/>
          <p:nvPr/>
        </p:nvSpPr>
        <p:spPr>
          <a:xfrm>
            <a:off x="813816" y="5541264"/>
            <a:ext cx="1700784" cy="548640"/>
          </a:xfrm>
          <a:prstGeom prst="rect">
            <a:avLst/>
          </a:prstGeom>
          <a:noFill/>
        </p:spPr>
        <p:txBody>
          <a:bodyPr wrap="square" lIns="0" rIns="0" tIns="0" bIns="0">
            <a:spAutoFit/>
          </a:bodyPr>
          <a:lstStyle/>
          <a:p>
            <a:pPr algn="ctr"/>
            <a:r>
              <a:rPr sz="1100" b="0">
                <a:solidFill>
                  <a:srgbClr val="44506A"/>
                </a:solidFill>
                <a:latin typeface="DM Sans"/>
              </a:rPr>
              <a:t>Home: today’s numbers and three big buttons</a:t>
            </a:r>
          </a:p>
        </p:txBody>
      </p:sp>
      <p:pic>
        <p:nvPicPr>
          <p:cNvPr id="49" name="Picture 48" descr="p2_checkin.png"/>
          <p:cNvPicPr>
            <a:picLocks noChangeAspect="1"/>
          </p:cNvPicPr>
          <p:nvPr/>
        </p:nvPicPr>
        <p:blipFill>
          <a:blip r:embed="rId6"/>
          <a:stretch>
            <a:fillRect/>
          </a:stretch>
        </p:blipFill>
        <p:spPr>
          <a:xfrm>
            <a:off x="3031236" y="1810512"/>
            <a:ext cx="1700784" cy="3650463"/>
          </a:xfrm>
          <a:prstGeom prst="rect">
            <a:avLst/>
          </a:prstGeom>
        </p:spPr>
      </p:pic>
      <p:sp>
        <p:nvSpPr>
          <p:cNvPr id="50" name="TextBox 49"/>
          <p:cNvSpPr txBox="1"/>
          <p:nvPr/>
        </p:nvSpPr>
        <p:spPr>
          <a:xfrm>
            <a:off x="3031236" y="5541264"/>
            <a:ext cx="1700784" cy="548640"/>
          </a:xfrm>
          <a:prstGeom prst="rect">
            <a:avLst/>
          </a:prstGeom>
          <a:noFill/>
        </p:spPr>
        <p:txBody>
          <a:bodyPr wrap="square" lIns="0" rIns="0" tIns="0" bIns="0">
            <a:spAutoFit/>
          </a:bodyPr>
          <a:lstStyle/>
          <a:p>
            <a:pPr algn="ctr"/>
            <a:r>
              <a:rPr sz="1100" b="0">
                <a:solidFill>
                  <a:srgbClr val="44506A"/>
                </a:solidFill>
                <a:latin typeface="DM Sans"/>
              </a:rPr>
              <a:t>A voice note in Kannada; reply by voice or one tap</a:t>
            </a:r>
          </a:p>
        </p:txBody>
      </p:sp>
      <p:pic>
        <p:nvPicPr>
          <p:cNvPr id="51" name="Picture 50" descr="p3_offer.png"/>
          <p:cNvPicPr>
            <a:picLocks noChangeAspect="1"/>
          </p:cNvPicPr>
          <p:nvPr/>
        </p:nvPicPr>
        <p:blipFill>
          <a:blip r:embed="rId7"/>
          <a:stretch>
            <a:fillRect/>
          </a:stretch>
        </p:blipFill>
        <p:spPr>
          <a:xfrm>
            <a:off x="5248655" y="1810512"/>
            <a:ext cx="1700784" cy="3650463"/>
          </a:xfrm>
          <a:prstGeom prst="rect">
            <a:avLst/>
          </a:prstGeom>
        </p:spPr>
      </p:pic>
      <p:sp>
        <p:nvSpPr>
          <p:cNvPr id="52" name="TextBox 51"/>
          <p:cNvSpPr txBox="1"/>
          <p:nvPr/>
        </p:nvSpPr>
        <p:spPr>
          <a:xfrm>
            <a:off x="5248655" y="5541264"/>
            <a:ext cx="1700784" cy="548640"/>
          </a:xfrm>
          <a:prstGeom prst="rect">
            <a:avLst/>
          </a:prstGeom>
          <a:noFill/>
        </p:spPr>
        <p:txBody>
          <a:bodyPr wrap="square" lIns="0" rIns="0" tIns="0" bIns="0">
            <a:spAutoFit/>
          </a:bodyPr>
          <a:lstStyle/>
          <a:p>
            <a:pPr algn="ctr"/>
            <a:r>
              <a:rPr sz="1100" b="0">
                <a:solidFill>
                  <a:srgbClr val="44506A"/>
                </a:solidFill>
                <a:latin typeface="DM Sans"/>
              </a:rPr>
              <a:t>Only the lender’s options, with a day-by-day preview</a:t>
            </a:r>
          </a:p>
        </p:txBody>
      </p:sp>
      <p:pic>
        <p:nvPicPr>
          <p:cNvPr id="53" name="Picture 52" descr="p4_calendar.png"/>
          <p:cNvPicPr>
            <a:picLocks noChangeAspect="1"/>
          </p:cNvPicPr>
          <p:nvPr/>
        </p:nvPicPr>
        <p:blipFill>
          <a:blip r:embed="rId8"/>
          <a:stretch>
            <a:fillRect/>
          </a:stretch>
        </p:blipFill>
        <p:spPr>
          <a:xfrm>
            <a:off x="7466075" y="1810512"/>
            <a:ext cx="1700784" cy="3650463"/>
          </a:xfrm>
          <a:prstGeom prst="rect">
            <a:avLst/>
          </a:prstGeom>
        </p:spPr>
      </p:pic>
      <p:sp>
        <p:nvSpPr>
          <p:cNvPr id="54" name="TextBox 53"/>
          <p:cNvSpPr txBox="1"/>
          <p:nvPr/>
        </p:nvSpPr>
        <p:spPr>
          <a:xfrm>
            <a:off x="7466075" y="5541264"/>
            <a:ext cx="1700784" cy="548640"/>
          </a:xfrm>
          <a:prstGeom prst="rect">
            <a:avLst/>
          </a:prstGeom>
          <a:noFill/>
        </p:spPr>
        <p:txBody>
          <a:bodyPr wrap="square" lIns="0" rIns="0" tIns="0" bIns="0">
            <a:spAutoFit/>
          </a:bodyPr>
          <a:lstStyle/>
          <a:p>
            <a:pPr algn="ctr"/>
            <a:r>
              <a:rPr sz="1100" b="0">
                <a:solidFill>
                  <a:srgbClr val="44506A"/>
                </a:solidFill>
                <a:latin typeface="DM Sans"/>
              </a:rPr>
              <a:t>A calendar of paid, paused and catch-up days</a:t>
            </a:r>
          </a:p>
        </p:txBody>
      </p:sp>
      <p:pic>
        <p:nvPicPr>
          <p:cNvPr id="55" name="Picture 54" descr="p6_promise.png"/>
          <p:cNvPicPr>
            <a:picLocks noChangeAspect="1"/>
          </p:cNvPicPr>
          <p:nvPr/>
        </p:nvPicPr>
        <p:blipFill>
          <a:blip r:embed="rId9"/>
          <a:stretch>
            <a:fillRect/>
          </a:stretch>
        </p:blipFill>
        <p:spPr>
          <a:xfrm>
            <a:off x="9683496" y="1810512"/>
            <a:ext cx="1700784" cy="3650463"/>
          </a:xfrm>
          <a:prstGeom prst="rect">
            <a:avLst/>
          </a:prstGeom>
        </p:spPr>
      </p:pic>
      <p:sp>
        <p:nvSpPr>
          <p:cNvPr id="56" name="TextBox 55"/>
          <p:cNvSpPr txBox="1"/>
          <p:nvPr/>
        </p:nvSpPr>
        <p:spPr>
          <a:xfrm>
            <a:off x="9683496" y="5541264"/>
            <a:ext cx="1700784" cy="548640"/>
          </a:xfrm>
          <a:prstGeom prst="rect">
            <a:avLst/>
          </a:prstGeom>
          <a:noFill/>
        </p:spPr>
        <p:txBody>
          <a:bodyPr wrap="square" lIns="0" rIns="0" tIns="0" bIns="0">
            <a:spAutoFit/>
          </a:bodyPr>
          <a:lstStyle/>
          <a:p>
            <a:pPr algn="ctr"/>
            <a:r>
              <a:rPr sz="1100" b="0">
                <a:solidFill>
                  <a:srgbClr val="44506A"/>
                </a:solidFill>
                <a:latin typeface="DM Sans"/>
              </a:rPr>
              <a:t>Six promises, read aloud; switch off any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PREPARE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Ready for the next bad week</a:t>
            </a:r>
            <a:endParaRPr lang="en-US" sz="3600" dirty="0"/>
          </a:p>
        </p:txBody>
      </p:sp>
      <p:sp>
        <p:nvSpPr>
          <p:cNvPr id="45"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46" name="Text 4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08</a:t>
            </a:r>
            <a:endParaRPr lang="en-US" sz="1200" dirty="0"/>
          </a:p>
        </p:txBody>
      </p:sp>
      <p:sp>
        <p:nvSpPr>
          <p:cNvPr id="47" name="TextBox 46"/>
          <p:cNvSpPr txBox="1"/>
          <p:nvPr/>
        </p:nvSpPr>
        <p:spPr>
          <a:xfrm>
            <a:off x="813816" y="1847088"/>
            <a:ext cx="3840480" cy="548640"/>
          </a:xfrm>
          <a:prstGeom prst="rect">
            <a:avLst/>
          </a:prstGeom>
          <a:noFill/>
        </p:spPr>
        <p:txBody>
          <a:bodyPr wrap="square" lIns="0" rIns="0" tIns="0" bIns="0">
            <a:spAutoFit/>
          </a:bodyPr>
          <a:lstStyle/>
          <a:p>
            <a:r>
              <a:rPr sz="4000" b="1">
                <a:solidFill>
                  <a:srgbClr val="1E7B6E"/>
                </a:solidFill>
                <a:latin typeface="Fraunces"/>
              </a:rPr>
              <a:t>₹3,800</a:t>
            </a:r>
          </a:p>
        </p:txBody>
      </p:sp>
      <p:sp>
        <p:nvSpPr>
          <p:cNvPr id="48" name="TextBox 47"/>
          <p:cNvSpPr txBox="1"/>
          <p:nvPr/>
        </p:nvSpPr>
        <p:spPr>
          <a:xfrm>
            <a:off x="813816" y="2487168"/>
            <a:ext cx="3840480" cy="502920"/>
          </a:xfrm>
          <a:prstGeom prst="rect">
            <a:avLst/>
          </a:prstGeom>
          <a:noFill/>
        </p:spPr>
        <p:txBody>
          <a:bodyPr wrap="square" lIns="0" rIns="0" tIns="0" bIns="0">
            <a:spAutoFit/>
          </a:bodyPr>
          <a:lstStyle/>
          <a:p>
            <a:r>
              <a:rPr sz="1300" b="0">
                <a:solidFill>
                  <a:srgbClr val="0E1B33"/>
                </a:solidFill>
                <a:latin typeface="DM Sans"/>
              </a:rPr>
              <a:t>paid ahead by the wedding week, had Ravi switched on pay-ahead when his loan began</a:t>
            </a:r>
          </a:p>
        </p:txBody>
      </p:sp>
      <p:sp>
        <p:nvSpPr>
          <p:cNvPr id="49" name="TextBox 48"/>
          <p:cNvSpPr txBox="1"/>
          <p:nvPr/>
        </p:nvSpPr>
        <p:spPr>
          <a:xfrm>
            <a:off x="813816" y="3200400"/>
            <a:ext cx="3886200" cy="2103120"/>
          </a:xfrm>
          <a:prstGeom prst="rect">
            <a:avLst/>
          </a:prstGeom>
          <a:noFill/>
        </p:spPr>
        <p:txBody>
          <a:bodyPr wrap="square" lIns="0" rIns="0" tIns="0" bIns="0">
            <a:spAutoFit/>
          </a:bodyPr>
          <a:lstStyle/>
          <a:p>
            <a:r>
              <a:rPr sz="1250" b="1">
                <a:solidFill>
                  <a:srgbClr val="0E1B33"/>
                </a:solidFill>
                <a:latin typeface="DM Sans"/>
              </a:rPr>
              <a:t>Good days: </a:t>
            </a:r>
            <a:r>
              <a:rPr sz="1250" b="0">
                <a:solidFill>
                  <a:srgbClr val="44506A"/>
                </a:solidFill>
                <a:latin typeface="DM Sans"/>
              </a:rPr>
              <a:t>on days he sells ₹6,000 or more, ₹100 goes towards future installments (about 1.6% of a good day).</a:t>
            </a:r>
          </a:p>
          <a:p>
            <a:pPr>
              <a:spcBef>
                <a:spcPts val="600"/>
              </a:spcBef>
            </a:pPr>
            <a:r>
              <a:rPr sz="1250" b="1">
                <a:solidFill>
                  <a:srgbClr val="0E1B33"/>
                </a:solidFill>
                <a:latin typeface="DM Sans"/>
              </a:rPr>
              <a:t>Bad days: </a:t>
            </a:r>
            <a:r>
              <a:rPr sz="1250" b="0">
                <a:solidFill>
                  <a:srgbClr val="44506A"/>
                </a:solidFill>
                <a:latin typeface="DM Sans"/>
              </a:rPr>
              <a:t>the cushion pays first. Fri–Sun covered, nothing overdue, no lender decision needed.</a:t>
            </a:r>
          </a:p>
          <a:p>
            <a:pPr>
              <a:spcBef>
                <a:spcPts val="600"/>
              </a:spcBef>
            </a:pPr>
            <a:r>
              <a:rPr sz="1250" b="1">
                <a:solidFill>
                  <a:srgbClr val="0E1B33"/>
                </a:solidFill>
                <a:latin typeface="DM Sans"/>
              </a:rPr>
              <a:t>His choice: </a:t>
            </a:r>
            <a:r>
              <a:rPr sz="1250" b="0">
                <a:solidFill>
                  <a:srgbClr val="44506A"/>
                </a:solidFill>
                <a:latin typeface="DM Sans"/>
              </a:rPr>
              <a:t>off any time. Installments paid early to the lender, not a deposit or a wallet.</a:t>
            </a:r>
          </a:p>
        </p:txBody>
      </p:sp>
      <p:pic>
        <p:nvPicPr>
          <p:cNvPr id="50" name="Picture 49" descr="payoff.png"/>
          <p:cNvPicPr>
            <a:picLocks noChangeAspect="1"/>
          </p:cNvPicPr>
          <p:nvPr/>
        </p:nvPicPr>
        <p:blipFill>
          <a:blip r:embed="rId5"/>
          <a:stretch>
            <a:fillRect/>
          </a:stretch>
        </p:blipFill>
        <p:spPr>
          <a:xfrm>
            <a:off x="4983480" y="1847088"/>
            <a:ext cx="6400800" cy="1526169"/>
          </a:xfrm>
          <a:prstGeom prst="rect">
            <a:avLst/>
          </a:prstGeom>
        </p:spPr>
      </p:pic>
      <p:sp>
        <p:nvSpPr>
          <p:cNvPr id="51" name="Rounded Rectangle 50"/>
          <p:cNvSpPr/>
          <p:nvPr/>
        </p:nvSpPr>
        <p:spPr>
          <a:xfrm>
            <a:off x="4983480" y="3657600"/>
            <a:ext cx="6400800" cy="1600200"/>
          </a:xfrm>
          <a:prstGeom prst="roundRect">
            <a:avLst>
              <a:gd name="adj" fmla="val 6000"/>
            </a:avLst>
          </a:prstGeom>
          <a:solidFill>
            <a:srgbClr val="FFFEFB"/>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30368" y="3822191"/>
            <a:ext cx="5943600" cy="274320"/>
          </a:xfrm>
          <a:prstGeom prst="rect">
            <a:avLst/>
          </a:prstGeom>
          <a:noFill/>
        </p:spPr>
        <p:txBody>
          <a:bodyPr wrap="square" lIns="0" rIns="0" tIns="0" bIns="0">
            <a:spAutoFit/>
          </a:bodyPr>
          <a:lstStyle/>
          <a:p>
            <a:r>
              <a:rPr sz="1100" b="1">
                <a:solidFill>
                  <a:srgbClr val="94560A"/>
                </a:solidFill>
                <a:latin typeface="DM Sans"/>
              </a:rPr>
              <a:t>ACROSS THE SAME 50 MERCHANTS</a:t>
            </a:r>
          </a:p>
        </p:txBody>
      </p:sp>
      <p:sp>
        <p:nvSpPr>
          <p:cNvPr id="53" name="TextBox 52"/>
          <p:cNvSpPr txBox="1"/>
          <p:nvPr/>
        </p:nvSpPr>
        <p:spPr>
          <a:xfrm>
            <a:off x="5230368" y="4114800"/>
            <a:ext cx="5943600" cy="1097280"/>
          </a:xfrm>
          <a:prstGeom prst="rect">
            <a:avLst/>
          </a:prstGeom>
          <a:noFill/>
        </p:spPr>
        <p:txBody>
          <a:bodyPr wrap="square" lIns="0" rIns="0" tIns="0" bIns="0">
            <a:spAutoFit/>
          </a:bodyPr>
          <a:lstStyle/>
          <a:p>
            <a:r>
              <a:rPr sz="1300" b="0">
                <a:solidFill>
                  <a:srgbClr val="0E1B33"/>
                </a:solidFill>
                <a:latin typeface="DM Sans"/>
              </a:rPr>
              <a:t>If every flagged merchant had pay-ahead from the start: </a:t>
            </a:r>
            <a:r>
              <a:rPr sz="1300" b="1">
                <a:solidFill>
                  <a:srgbClr val="1E7B6E"/>
                </a:solidFill>
                <a:latin typeface="DM Sans"/>
              </a:rPr>
              <a:t>1 merchant overdue for 1 day</a:t>
            </a:r>
            <a:r>
              <a:rPr sz="1300" b="0">
                <a:solidFill>
                  <a:srgbClr val="0E1B33"/>
                </a:solidFill>
                <a:latin typeface="DM Sans"/>
              </a:rPr>
              <a:t> (22 without help, 5 with Sambhal’s pauses).</a:t>
            </a:r>
          </a:p>
          <a:p>
            <a:pPr>
              <a:spcBef>
                <a:spcPts val="600"/>
              </a:spcBef>
            </a:pPr>
            <a:r>
              <a:rPr sz="1150" b="0">
                <a:solidFill>
                  <a:srgbClr val="5D6679"/>
                </a:solidFill>
                <a:latin typeface="DM Sans"/>
              </a:rPr>
              <a:t>An upper bound: it assumes everyone opts in. The pilot measures real uptake.</a:t>
            </a:r>
          </a:p>
        </p:txBody>
      </p:sp>
      <p:sp>
        <p:nvSpPr>
          <p:cNvPr id="54" name="TextBox 53"/>
          <p:cNvSpPr txBox="1"/>
          <p:nvPr/>
        </p:nvSpPr>
        <p:spPr>
          <a:xfrm>
            <a:off x="813816" y="5577840"/>
            <a:ext cx="10607040" cy="320040"/>
          </a:xfrm>
          <a:prstGeom prst="rect">
            <a:avLst/>
          </a:prstGeom>
          <a:noFill/>
        </p:spPr>
        <p:txBody>
          <a:bodyPr wrap="square" lIns="0" rIns="0" tIns="0" bIns="0">
            <a:spAutoFit/>
          </a:bodyPr>
          <a:lstStyle/>
          <a:p>
            <a:r>
              <a:rPr sz="1500" b="1">
                <a:solidFill>
                  <a:srgbClr val="0E1B33"/>
                </a:solidFill>
                <a:latin typeface="DM Sans"/>
              </a:rPr>
              <a:t>Sambhal doesn’t just get a merchant through a bad week. It gets them ready for the next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93B"/>
                </a:solidFill>
                <a:latin typeface="DM Sans" pitchFamily="34" charset="0"/>
                <a:ea typeface="DM Sans" pitchFamily="34" charset="-122"/>
                <a:cs typeface="DM Sans" pitchFamily="34" charset="-120"/>
              </a:rPr>
              <a:t>GUARDRAILS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Fraunces" pitchFamily="18" charset="0"/>
                <a:ea typeface="Fraunces" pitchFamily="18" charset="-122"/>
                <a:cs typeface="Fraunces" pitchFamily="18" charset="-120"/>
              </a:rPr>
              <a:t>Built to say no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2786063"/>
        </p:xfrm>
        <a:graphic>
          <a:graphicData uri="http://schemas.openxmlformats.org/drawingml/2006/table">
            <a:tbl>
              <a:tblPr/>
              <a:tblGrid>
                <a:gridCol w="3166110"/>
                <a:gridCol w="4643628"/>
                <a:gridCol w="2743962"/>
              </a:tblGrid>
              <a:tr h="429220">
                <a:tc>
                  <a:txBody>
                    <a:bodyPr/>
                    <a:lstStyle/>
                    <a:p>
                      <a:pPr indent="0" marL="0">
                        <a:lnSpc>
                          <a:spcPts val="1680"/>
                        </a:lnSpc>
                        <a:buNone/>
                      </a:pPr>
                      <a:r>
                        <a:rPr lang="en-US" sz="1200" b="1" dirty="0">
                          <a:solidFill>
                            <a:srgbClr val="F2A93B"/>
                          </a:solidFill>
                          <a:latin typeface="DM Sans" pitchFamily="34" charset="0"/>
                          <a:ea typeface="DM Sans" pitchFamily="34" charset="-122"/>
                          <a:cs typeface="DM Sans" pitchFamily="34" charset="-120"/>
                        </a:rPr>
                        <a:t>When this happens</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B586D"/>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B586D"/>
                      </a:solidFill>
                      <a:prstDash val="solid"/>
                      <a:round/>
                      <a:headEnd type="none" w="med" len="med"/>
                      <a:tailEnd type="none" w="med" len="med"/>
                    </a:lnB>
                    <a:solidFill>
                      <a:srgbClr val="1A2A47"/>
                    </a:solidFill>
                  </a:tcPr>
                </a:tc>
                <a:tc>
                  <a:txBody>
                    <a:bodyPr/>
                    <a:lstStyle/>
                    <a:p>
                      <a:pPr indent="0" marL="0">
                        <a:lnSpc>
                          <a:spcPts val="1680"/>
                        </a:lnSpc>
                        <a:buNone/>
                      </a:pPr>
                      <a:r>
                        <a:rPr lang="en-US" sz="1200" b="1" dirty="0">
                          <a:solidFill>
                            <a:srgbClr val="F2A93B"/>
                          </a:solidFill>
                          <a:latin typeface="DM Sans" pitchFamily="34" charset="0"/>
                          <a:ea typeface="DM Sans" pitchFamily="34" charset="-122"/>
                          <a:cs typeface="DM Sans" pitchFamily="34" charset="-120"/>
                        </a:rPr>
                        <a:t>Sambhal does this</a:t>
                      </a:r>
                      <a:endParaRPr lang="en-US" sz="1200" dirty="0">
                        <a:latin typeface="DM Sans" charset="0"/>
                        <a:ea typeface="DM Sans" charset="0"/>
                        <a:cs typeface="DM Sans" charset="0"/>
                      </a:endParaRPr>
                    </a:p>
                  </a:txBody>
                  <a:tcPr marL="152400" marR="152400" marT="101600" marB="101600" anchor="t">
                    <a:lnL w="12700" cap="flat" cmpd="sng" algn="ctr">
                      <a:solidFill>
                        <a:srgbClr val="4B586D"/>
                      </a:solidFill>
                      <a:prstDash val="solid"/>
                      <a:round/>
                      <a:headEnd type="none" w="med" len="med"/>
                      <a:tailEnd type="none" w="med" len="med"/>
                    </a:lnL>
                    <a:lnR w="12700" cap="flat" cmpd="sng" algn="ctr">
                      <a:solidFill>
                        <a:srgbClr val="4B586D"/>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B586D"/>
                      </a:solidFill>
                      <a:prstDash val="solid"/>
                      <a:round/>
                      <a:headEnd type="none" w="med" len="med"/>
                      <a:tailEnd type="none" w="med" len="med"/>
                    </a:lnB>
                    <a:solidFill>
                      <a:srgbClr val="1A2A47"/>
                    </a:solidFill>
                  </a:tcPr>
                </a:tc>
                <a:tc>
                  <a:txBody>
                    <a:bodyPr/>
                    <a:lstStyle/>
                    <a:p>
                      <a:pPr indent="0" marL="0">
                        <a:lnSpc>
                          <a:spcPts val="1680"/>
                        </a:lnSpc>
                        <a:buNone/>
                      </a:pPr>
                      <a:r>
                        <a:rPr lang="en-US" sz="1200" b="1" dirty="0">
                          <a:solidFill>
                            <a:srgbClr val="F2A93B"/>
                          </a:solidFill>
                          <a:latin typeface="DM Sans" pitchFamily="34" charset="0"/>
                          <a:ea typeface="DM Sans" pitchFamily="34" charset="-122"/>
                          <a:cs typeface="DM Sans" pitchFamily="34" charset="-120"/>
                        </a:rPr>
                        <a:t>Because</a:t>
                      </a:r>
                      <a:endParaRPr lang="en-US" sz="1200" dirty="0">
                        <a:latin typeface="DM Sans" charset="0"/>
                        <a:ea typeface="DM Sans" charset="0"/>
                        <a:cs typeface="DM Sans" charset="0"/>
                      </a:endParaRPr>
                    </a:p>
                  </a:txBody>
                  <a:tcPr marL="152400" marR="152400" marT="101600" marB="101600" anchor="t">
                    <a:lnL w="12700" cap="flat" cmpd="sng" algn="ctr">
                      <a:solidFill>
                        <a:srgbClr val="4B586D"/>
                      </a:solidFill>
                      <a:prstDash val="solid"/>
                      <a:round/>
                      <a:headEnd type="none" w="med" len="med"/>
                      <a:tailEnd type="none" w="med" len="med"/>
                    </a:lnL>
                    <a:lnR w="12700" cap="flat" cmpd="sng" algn="ctr">
                      <a:solidFill>
                        <a:srgbClr val="4B586D"/>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B586D"/>
                      </a:solidFill>
                      <a:prstDash val="solid"/>
                      <a:round/>
                      <a:headEnd type="none" w="med" len="med"/>
                      <a:tailEnd type="none" w="med" len="med"/>
                    </a:lnB>
                    <a:solidFill>
                      <a:srgbClr val="1A2A47"/>
                    </a:solidFill>
                  </a:tcPr>
                </a:tc>
              </a:tr>
              <a:tr h="429220">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A message falls due at 7:30 pm</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B586D"/>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Holds it until 8 am the next day</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B586D"/>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RBI: contact only 8 am–7 pm</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B586D"/>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r>
              <a:tr h="642541">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The merchant mentions a death or illness</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Stops contacting, hands the case to a person for hardship help</a:t>
                      </a:r>
                      <a:endParaRPr lang="en-US" sz="1200" dirty="0">
                        <a:latin typeface="DM Sans" charset="0"/>
                        <a:ea typeface="DM Sans" charset="0"/>
                        <a:cs typeface="DM Sans" charset="0"/>
                      </a:endParaRPr>
                    </a:p>
                  </a:txBody>
                  <a:tcPr marL="152400" marR="152400" marT="101600" marB="101600"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RBI: no contact in bereavement or emergencies</a:t>
                      </a:r>
                      <a:endParaRPr lang="en-US" sz="1200" dirty="0">
                        <a:latin typeface="DM Sans" charset="0"/>
                        <a:ea typeface="DM Sans" charset="0"/>
                        <a:cs typeface="DM Sans" charset="0"/>
                      </a:endParaRPr>
                    </a:p>
                  </a:txBody>
                  <a:tcPr marL="152400" marR="152400" marT="101600" marB="101600"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r>
              <a:tr h="642541">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The merchant asks to waive the dues</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Declines kindly, offers only approved options, routes the request</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The lender’s policy, not the model, sets terms</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24C5E"/>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24C5E"/>
                      </a:solidFill>
                      <a:prstDash val="solid"/>
                      <a:round/>
                      <a:headEnd type="none" w="med" len="med"/>
                      <a:tailEnd type="none" w="med" len="med"/>
                    </a:lnB>
                  </a:tcPr>
                </a:tc>
              </a:tr>
              <a:tr h="642541">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Sales vanish with no reason given</a:t>
                      </a:r>
                      <a:endParaRPr lang="en-US" sz="1200" dirty="0">
                        <a:latin typeface="DM Sans" charset="0"/>
                        <a:ea typeface="DM Sans" charset="0"/>
                        <a:cs typeface="DM Sans" charset="0"/>
                      </a:endParaRPr>
                    </a:p>
                  </a:txBody>
                  <a:tcPr marL="152400" marR="152400" marT="101600" marB="101600" anchor="t">
                    <a:lnL w="12700" cap="flat" cmpd="sng" algn="ctr">
                      <a:solidFill>
                        <a:srgbClr val="424C5E"/>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Flags for human review and takes no action</a:t>
                      </a:r>
                      <a:endParaRPr lang="en-US" sz="1200" dirty="0">
                        <a:latin typeface="DM Sans" charset="0"/>
                        <a:ea typeface="DM Sans" charset="0"/>
                        <a:cs typeface="DM Sans" charset="0"/>
                      </a:endParaRPr>
                    </a:p>
                  </a:txBody>
                  <a:tcPr marL="152400" marR="152400" marT="101600" marB="101600"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c>
                  <a:txBody>
                    <a:bodyPr/>
                    <a:lstStyle/>
                    <a:p>
                      <a:pPr indent="0" marL="0">
                        <a:lnSpc>
                          <a:spcPts val="1680"/>
                        </a:lnSpc>
                        <a:buNone/>
                      </a:pPr>
                      <a:r>
                        <a:rPr lang="en-US" sz="1200" dirty="0">
                          <a:solidFill>
                            <a:srgbClr val="F7F5F0"/>
                          </a:solidFill>
                          <a:latin typeface="DM Sans" pitchFamily="34" charset="0"/>
                          <a:ea typeface="DM Sans" pitchFamily="34" charset="-122"/>
                          <a:cs typeface="DM Sans" pitchFamily="34" charset="-120"/>
                        </a:rPr>
                        <a:t>Could be payments moved to another QR</a:t>
                      </a:r>
                      <a:endParaRPr lang="en-US" sz="1200" dirty="0">
                        <a:latin typeface="DM Sans" charset="0"/>
                        <a:ea typeface="DM Sans" charset="0"/>
                        <a:cs typeface="DM Sans" charset="0"/>
                      </a:endParaRPr>
                    </a:p>
                  </a:txBody>
                  <a:tcPr marL="152400" marR="152400" marT="101600" marB="101600"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24C5E"/>
                      </a:solidFill>
                      <a:prstDash val="solid"/>
                      <a:round/>
                      <a:headEnd type="none" w="med" len="med"/>
                      <a:tailEnd type="none" w="med" len="med"/>
                    </a:lnT>
                    <a:lnB w="12700" cap="flat" cmpd="sng" algn="ctr">
                      <a:solidFill>
                        <a:srgbClr val="465267"/>
                      </a:solidFill>
                      <a:prstDash val="solid"/>
                      <a:round/>
                      <a:headEnd type="none" w="med" len="med"/>
                      <a:tailEnd type="none" w="med" len="med"/>
                    </a:lnB>
                    <a:solidFill>
                      <a:srgbClr val="13233F"/>
                    </a:solidFill>
                  </a:tcPr>
                </a:tc>
              </a:tr>
            </a:tbl>
          </a:graphicData>
        </a:graphic>
      </p:graphicFrame>
      <p:sp>
        <p:nvSpPr>
          <p:cNvPr id="5" name="Text 2"/>
          <p:cNvSpPr/>
          <p:nvPr/>
        </p:nvSpPr>
        <p:spPr>
          <a:xfrm>
            <a:off x="812800" y="4937373"/>
            <a:ext cx="1088339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6DCE7"/>
                </a:solidFill>
                <a:latin typeface="DM Sans" pitchFamily="34" charset="0"/>
                <a:ea typeface="DM Sans" pitchFamily="34" charset="-122"/>
                <a:cs typeface="DM Sans" pitchFamily="34" charset="-120"/>
              </a:rPr>
              <a:t>Every message says it is recorded, and is logged. </a:t>
            </a:r>
            <a:r>
              <a:rPr lang="en-US" sz="1600" b="1" dirty="0">
                <a:solidFill>
                  <a:srgbClr val="F7F5F0"/>
                </a:solidFill>
                <a:latin typeface="DM Sans" pitchFamily="34" charset="0"/>
                <a:ea typeface="DM Sans" pitchFamily="34" charset="-122"/>
                <a:cs typeface="DM Sans" pitchFamily="34" charset="-120"/>
              </a:rPr>
              <a:t>Before each release we replay 40 test situations; one rule break blocks it.</a:t>
            </a:r>
            <a:endParaRPr lang="en-US" sz="16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DM Sans" pitchFamily="34" charset="0"/>
                <a:ea typeface="DM Sans" pitchFamily="34" charset="-122"/>
                <a:cs typeface="DM Sans" pitchFamily="34" charset="-120"/>
              </a:rPr>
              <a:t>The AI does the talking. A fixed rulebook decides what it may say, and when.</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3D6"/>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BEYOND ONE MERCHANT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What only Paytm can see</a:t>
            </a:r>
            <a:endParaRPr lang="en-US" sz="3600" dirty="0"/>
          </a:p>
        </p:txBody>
      </p:sp>
      <p:sp>
        <p:nvSpPr>
          <p:cNvPr id="45"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46" name="Text 4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10</a:t>
            </a:r>
            <a:endParaRPr lang="en-US" sz="1200" dirty="0"/>
          </a:p>
        </p:txBody>
      </p:sp>
      <p:pic>
        <p:nvPicPr>
          <p:cNvPr id="47" name="Picture 46" descr="alert.png"/>
          <p:cNvPicPr>
            <a:picLocks noChangeAspect="1"/>
          </p:cNvPicPr>
          <p:nvPr/>
        </p:nvPicPr>
        <p:blipFill>
          <a:blip r:embed="rId5"/>
          <a:stretch>
            <a:fillRect/>
          </a:stretch>
        </p:blipFill>
        <p:spPr>
          <a:xfrm>
            <a:off x="813816" y="1810512"/>
            <a:ext cx="10561320" cy="1297325"/>
          </a:xfrm>
          <a:prstGeom prst="rect">
            <a:avLst/>
          </a:prstGeom>
        </p:spPr>
      </p:pic>
      <p:sp>
        <p:nvSpPr>
          <p:cNvPr id="48" name="Rounded Rectangle 47"/>
          <p:cNvSpPr/>
          <p:nvPr/>
        </p:nvSpPr>
        <p:spPr>
          <a:xfrm>
            <a:off x="813816" y="3310128"/>
            <a:ext cx="3337560" cy="1874519"/>
          </a:xfrm>
          <a:prstGeom prst="roundRect">
            <a:avLst>
              <a:gd name="adj" fmla="val 6000"/>
            </a:avLst>
          </a:prstGeom>
          <a:solidFill>
            <a:srgbClr val="FFFEFB"/>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2416" y="3493008"/>
            <a:ext cx="2880360" cy="320040"/>
          </a:xfrm>
          <a:prstGeom prst="rect">
            <a:avLst/>
          </a:prstGeom>
          <a:noFill/>
        </p:spPr>
        <p:txBody>
          <a:bodyPr wrap="square" lIns="0" rIns="0" tIns="0" bIns="0">
            <a:spAutoFit/>
          </a:bodyPr>
          <a:lstStyle/>
          <a:p>
            <a:r>
              <a:rPr sz="1600" b="1">
                <a:solidFill>
                  <a:srgbClr val="0E1B33"/>
                </a:solidFill>
                <a:latin typeface="DM Sans"/>
              </a:rPr>
              <a:t>Neighbourhood alert</a:t>
            </a:r>
          </a:p>
        </p:txBody>
      </p:sp>
      <p:sp>
        <p:nvSpPr>
          <p:cNvPr id="50" name="TextBox 49"/>
          <p:cNvSpPr txBox="1"/>
          <p:nvPr/>
        </p:nvSpPr>
        <p:spPr>
          <a:xfrm>
            <a:off x="1042416" y="3886200"/>
            <a:ext cx="2880360" cy="1234440"/>
          </a:xfrm>
          <a:prstGeom prst="rect">
            <a:avLst/>
          </a:prstGeom>
          <a:noFill/>
        </p:spPr>
        <p:txBody>
          <a:bodyPr wrap="square" lIns="0" rIns="0" tIns="0" bIns="0">
            <a:spAutoFit/>
          </a:bodyPr>
          <a:lstStyle/>
          <a:p>
            <a:r>
              <a:rPr sz="1200" b="0">
                <a:solidFill>
                  <a:srgbClr val="44506A"/>
                </a:solidFill>
                <a:latin typeface="DM Sans"/>
              </a:rPr>
              <a:t>Eight shops in Bellandur dip together while the rest of the city is normal. No reminders there (RBI: no contact in calamities); the lender approves one area pause in a click.</a:t>
            </a:r>
          </a:p>
        </p:txBody>
      </p:sp>
      <p:sp>
        <p:nvSpPr>
          <p:cNvPr id="51" name="Rounded Rectangle 50"/>
          <p:cNvSpPr/>
          <p:nvPr/>
        </p:nvSpPr>
        <p:spPr>
          <a:xfrm>
            <a:off x="4425696" y="3310128"/>
            <a:ext cx="3337560" cy="1874519"/>
          </a:xfrm>
          <a:prstGeom prst="roundRect">
            <a:avLst>
              <a:gd name="adj" fmla="val 6000"/>
            </a:avLst>
          </a:prstGeom>
          <a:solidFill>
            <a:srgbClr val="FFFEFB"/>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54296" y="3493008"/>
            <a:ext cx="2880360" cy="320040"/>
          </a:xfrm>
          <a:prstGeom prst="rect">
            <a:avLst/>
          </a:prstGeom>
          <a:noFill/>
        </p:spPr>
        <p:txBody>
          <a:bodyPr wrap="square" lIns="0" rIns="0" tIns="0" bIns="0">
            <a:spAutoFit/>
          </a:bodyPr>
          <a:lstStyle/>
          <a:p>
            <a:r>
              <a:rPr sz="1600" b="1">
                <a:solidFill>
                  <a:srgbClr val="0E1B33"/>
                </a:solidFill>
                <a:latin typeface="DM Sans"/>
              </a:rPr>
              <a:t>Tell us first</a:t>
            </a:r>
          </a:p>
        </p:txBody>
      </p:sp>
      <p:sp>
        <p:nvSpPr>
          <p:cNvPr id="53" name="TextBox 52"/>
          <p:cNvSpPr txBox="1"/>
          <p:nvPr/>
        </p:nvSpPr>
        <p:spPr>
          <a:xfrm>
            <a:off x="4654296" y="3886200"/>
            <a:ext cx="2880360" cy="1234440"/>
          </a:xfrm>
          <a:prstGeom prst="rect">
            <a:avLst/>
          </a:prstGeom>
          <a:noFill/>
        </p:spPr>
        <p:txBody>
          <a:bodyPr wrap="square" lIns="0" rIns="0" tIns="0" bIns="0">
            <a:spAutoFit/>
          </a:bodyPr>
          <a:lstStyle/>
          <a:p>
            <a:r>
              <a:rPr sz="1200" b="0">
                <a:solidFill>
                  <a:srgbClr val="44506A"/>
                </a:solidFill>
                <a:latin typeface="DM Sans"/>
              </a:rPr>
              <a:t>Shobha books her sister’s wedding closure in the app before it happens. The pause is set for those days: no dip alarm, no check-in.</a:t>
            </a:r>
          </a:p>
        </p:txBody>
      </p:sp>
      <p:sp>
        <p:nvSpPr>
          <p:cNvPr id="54" name="Rounded Rectangle 53"/>
          <p:cNvSpPr/>
          <p:nvPr/>
        </p:nvSpPr>
        <p:spPr>
          <a:xfrm>
            <a:off x="8037576" y="3310128"/>
            <a:ext cx="3337560" cy="1874519"/>
          </a:xfrm>
          <a:prstGeom prst="roundRect">
            <a:avLst>
              <a:gd name="adj" fmla="val 6000"/>
            </a:avLst>
          </a:prstGeom>
          <a:solidFill>
            <a:srgbClr val="FFFEFB"/>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66176" y="3493008"/>
            <a:ext cx="2880360" cy="320040"/>
          </a:xfrm>
          <a:prstGeom prst="rect">
            <a:avLst/>
          </a:prstGeom>
          <a:noFill/>
        </p:spPr>
        <p:txBody>
          <a:bodyPr wrap="square" lIns="0" rIns="0" tIns="0" bIns="0">
            <a:spAutoFit/>
          </a:bodyPr>
          <a:lstStyle/>
          <a:p>
            <a:r>
              <a:rPr sz="1600" b="1">
                <a:solidFill>
                  <a:srgbClr val="0E1B33"/>
                </a:solidFill>
                <a:latin typeface="DM Sans"/>
              </a:rPr>
              <a:t>Trust, then check</a:t>
            </a:r>
          </a:p>
        </p:txBody>
      </p:sp>
      <p:sp>
        <p:nvSpPr>
          <p:cNvPr id="56" name="TextBox 55"/>
          <p:cNvSpPr txBox="1"/>
          <p:nvPr/>
        </p:nvSpPr>
        <p:spPr>
          <a:xfrm>
            <a:off x="8266176" y="3886200"/>
            <a:ext cx="2880360" cy="1234440"/>
          </a:xfrm>
          <a:prstGeom prst="rect">
            <a:avLst/>
          </a:prstGeom>
          <a:noFill/>
        </p:spPr>
        <p:txBody>
          <a:bodyPr wrap="square" lIns="0" rIns="0" tIns="0" bIns="0">
            <a:spAutoFit/>
          </a:bodyPr>
          <a:lstStyle/>
          <a:p>
            <a:r>
              <a:rPr sz="1200" b="0">
                <a:solidFill>
                  <a:srgbClr val="44506A"/>
                </a:solidFill>
                <a:latin typeface="DM Sans"/>
              </a:rPr>
              <a:t>Her shop reopens a day early. Sunday is collected as usual and her catch-up shrinks to the two days she was really shut.</a:t>
            </a:r>
          </a:p>
        </p:txBody>
      </p:sp>
      <p:sp>
        <p:nvSpPr>
          <p:cNvPr id="57" name="TextBox 56"/>
          <p:cNvSpPr txBox="1"/>
          <p:nvPr/>
        </p:nvSpPr>
        <p:spPr>
          <a:xfrm>
            <a:off x="813816" y="5504688"/>
            <a:ext cx="10607040" cy="320040"/>
          </a:xfrm>
          <a:prstGeom prst="rect">
            <a:avLst/>
          </a:prstGeom>
          <a:noFill/>
        </p:spPr>
        <p:txBody>
          <a:bodyPr wrap="square" lIns="0" rIns="0" tIns="0" bIns="0">
            <a:spAutoFit/>
          </a:bodyPr>
          <a:lstStyle/>
          <a:p>
            <a:r>
              <a:rPr sz="1500" b="1">
                <a:solidFill>
                  <a:srgbClr val="0E1B33"/>
                </a:solidFill>
                <a:latin typeface="DM Sans"/>
              </a:rPr>
              <a:t>Lender staff act inside the same rules: no calls at night or during a bereavement.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PROOF · SAME DATA, WITH AND WITHOUT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Same 50 merchants, same days</a:t>
            </a:r>
            <a:endParaRPr lang="en-US" sz="3600" dirty="0"/>
          </a:p>
        </p:txBody>
      </p:sp>
      <p:sp>
        <p:nvSpPr>
          <p:cNvPr id="45"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46" name="Text 4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11</a:t>
            </a:r>
            <a:endParaRPr lang="en-US" sz="1200" dirty="0"/>
          </a:p>
        </p:txBody>
      </p:sp>
      <p:graphicFrame>
        <p:nvGraphicFramePr>
          <p:cNvPr id="47" name="Table 46"/>
          <p:cNvGraphicFramePr>
            <a:graphicFrameLocks noGrp="1"/>
          </p:cNvGraphicFramePr>
          <p:nvPr/>
        </p:nvGraphicFramePr>
        <p:xfrm>
          <a:off x="813816" y="1847088"/>
          <a:ext cx="6766560" cy="2926080"/>
        </p:xfrm>
        <a:graphic>
          <a:graphicData uri="http://schemas.openxmlformats.org/drawingml/2006/table">
            <a:tbl>
              <a:tblPr firstRow="1" bandRow="1">
                <a:tableStyleId>{5C22544A-7EE6-4342-B048-85BDC9FD1C3A}</a:tableStyleId>
              </a:tblPr>
              <a:tblGrid>
                <a:gridCol w="3291840"/>
                <a:gridCol w="1554480"/>
                <a:gridCol w="1920240"/>
              </a:tblGrid>
              <a:tr h="487680">
                <a:tc>
                  <a:txBody>
                    <a:bodyPr/>
                    <a:lstStyle/>
                    <a:p>
                      <a:pPr algn="l">
                        <a:defRPr sz="1200" b="1">
                          <a:solidFill>
                            <a:srgbClr val="F7F5F0"/>
                          </a:solidFill>
                          <a:latin typeface="DM Sans"/>
                        </a:defRPr>
                      </a:pPr>
                    </a:p>
                  </a:txBody>
                  <a:tcPr anchor="ctr" marL="128016" marR="128016">
                    <a:solidFill>
                      <a:srgbClr val="0E1B33"/>
                    </a:solidFill>
                  </a:tcPr>
                </a:tc>
                <a:tc>
                  <a:txBody>
                    <a:bodyPr/>
                    <a:lstStyle/>
                    <a:p>
                      <a:pPr algn="r"/>
                      <a:r>
                        <a:rPr sz="1200" b="1">
                          <a:solidFill>
                            <a:srgbClr val="F7F5F0"/>
                          </a:solidFill>
                          <a:latin typeface="DM Sans"/>
                        </a:rPr>
                        <a:t>Without Sambhal</a:t>
                      </a:r>
                    </a:p>
                  </a:txBody>
                  <a:tcPr anchor="ctr" marL="128016" marR="128016">
                    <a:solidFill>
                      <a:srgbClr val="0E1B33"/>
                    </a:solidFill>
                  </a:tcPr>
                </a:tc>
                <a:tc>
                  <a:txBody>
                    <a:bodyPr/>
                    <a:lstStyle/>
                    <a:p>
                      <a:pPr algn="r"/>
                      <a:r>
                        <a:rPr sz="1200" b="1">
                          <a:solidFill>
                            <a:srgbClr val="F7F5F0"/>
                          </a:solidFill>
                          <a:latin typeface="DM Sans"/>
                        </a:rPr>
                        <a:t>With Sambhal</a:t>
                      </a:r>
                    </a:p>
                  </a:txBody>
                  <a:tcPr anchor="ctr" marL="128016" marR="128016">
                    <a:solidFill>
                      <a:srgbClr val="0E1B33"/>
                    </a:solidFill>
                  </a:tcPr>
                </a:tc>
              </a:tr>
              <a:tr h="487680">
                <a:tc>
                  <a:txBody>
                    <a:bodyPr/>
                    <a:lstStyle/>
                    <a:p>
                      <a:pPr algn="l"/>
                      <a:r>
                        <a:rPr sz="1400" b="0">
                          <a:solidFill>
                            <a:srgbClr val="0E1B33"/>
                          </a:solidFill>
                          <a:latin typeface="DM Sans"/>
                        </a:rPr>
                        <a:t>Merchants who fell overdue</a:t>
                      </a:r>
                    </a:p>
                  </a:txBody>
                  <a:tcPr anchor="ctr" marL="128016" marR="128016">
                    <a:solidFill>
                      <a:srgbClr val="FFFEFB"/>
                    </a:solidFill>
                  </a:tcPr>
                </a:tc>
                <a:tc>
                  <a:txBody>
                    <a:bodyPr/>
                    <a:lstStyle/>
                    <a:p>
                      <a:pPr algn="r"/>
                      <a:r>
                        <a:rPr sz="1400" b="0">
                          <a:solidFill>
                            <a:srgbClr val="B33A2B"/>
                          </a:solidFill>
                          <a:latin typeface="DM Sans"/>
                        </a:rPr>
                        <a:t>22</a:t>
                      </a:r>
                    </a:p>
                  </a:txBody>
                  <a:tcPr anchor="ctr" marL="128016" marR="128016">
                    <a:solidFill>
                      <a:srgbClr val="FFFEFB"/>
                    </a:solidFill>
                  </a:tcPr>
                </a:tc>
                <a:tc>
                  <a:txBody>
                    <a:bodyPr/>
                    <a:lstStyle/>
                    <a:p>
                      <a:pPr algn="r"/>
                      <a:r>
                        <a:rPr sz="1400" b="1">
                          <a:solidFill>
                            <a:srgbClr val="1E7B6E"/>
                          </a:solidFill>
                          <a:latin typeface="DM Sans"/>
                        </a:rPr>
                        <a:t>5</a:t>
                      </a:r>
                    </a:p>
                  </a:txBody>
                  <a:tcPr anchor="ctr" marL="128016" marR="128016">
                    <a:solidFill>
                      <a:srgbClr val="FFFEFB"/>
                    </a:solidFill>
                  </a:tcPr>
                </a:tc>
              </a:tr>
              <a:tr h="487680">
                <a:tc>
                  <a:txBody>
                    <a:bodyPr/>
                    <a:lstStyle/>
                    <a:p>
                      <a:pPr algn="l"/>
                      <a:r>
                        <a:rPr sz="1400" b="0">
                          <a:solidFill>
                            <a:srgbClr val="0E1B33"/>
                          </a:solidFill>
                          <a:latin typeface="DM Sans"/>
                        </a:rPr>
                        <a:t>Merchant-days overdue</a:t>
                      </a:r>
                    </a:p>
                  </a:txBody>
                  <a:tcPr anchor="ctr" marL="128016" marR="128016">
                    <a:solidFill>
                      <a:srgbClr val="F3F1EB"/>
                    </a:solidFill>
                  </a:tcPr>
                </a:tc>
                <a:tc>
                  <a:txBody>
                    <a:bodyPr/>
                    <a:lstStyle/>
                    <a:p>
                      <a:pPr algn="r"/>
                      <a:r>
                        <a:rPr sz="1400" b="0">
                          <a:solidFill>
                            <a:srgbClr val="B33A2B"/>
                          </a:solidFill>
                          <a:latin typeface="DM Sans"/>
                        </a:rPr>
                        <a:t>66</a:t>
                      </a:r>
                    </a:p>
                  </a:txBody>
                  <a:tcPr anchor="ctr" marL="128016" marR="128016">
                    <a:solidFill>
                      <a:srgbClr val="F3F1EB"/>
                    </a:solidFill>
                  </a:tcPr>
                </a:tc>
                <a:tc>
                  <a:txBody>
                    <a:bodyPr/>
                    <a:lstStyle/>
                    <a:p>
                      <a:pPr algn="r"/>
                      <a:r>
                        <a:rPr sz="1400" b="1">
                          <a:solidFill>
                            <a:srgbClr val="1E7B6E"/>
                          </a:solidFill>
                          <a:latin typeface="DM Sans"/>
                        </a:rPr>
                        <a:t>32</a:t>
                      </a:r>
                    </a:p>
                  </a:txBody>
                  <a:tcPr anchor="ctr" marL="128016" marR="128016">
                    <a:solidFill>
                      <a:srgbClr val="F3F1EB"/>
                    </a:solidFill>
                  </a:tcPr>
                </a:tc>
              </a:tr>
              <a:tr h="487680">
                <a:tc>
                  <a:txBody>
                    <a:bodyPr/>
                    <a:lstStyle/>
                    <a:p>
                      <a:pPr algn="l"/>
                      <a:r>
                        <a:rPr sz="1400" b="0">
                          <a:solidFill>
                            <a:srgbClr val="0E1B33"/>
                          </a:solidFill>
                          <a:latin typeface="DM Sans"/>
                        </a:rPr>
                        <a:t>Merchants 3+ days overdue</a:t>
                      </a:r>
                    </a:p>
                  </a:txBody>
                  <a:tcPr anchor="ctr" marL="128016" marR="128016">
                    <a:solidFill>
                      <a:srgbClr val="FFFEFB"/>
                    </a:solidFill>
                  </a:tcPr>
                </a:tc>
                <a:tc>
                  <a:txBody>
                    <a:bodyPr/>
                    <a:lstStyle/>
                    <a:p>
                      <a:pPr algn="r"/>
                      <a:r>
                        <a:rPr sz="1400" b="0">
                          <a:solidFill>
                            <a:srgbClr val="B33A2B"/>
                          </a:solidFill>
                          <a:latin typeface="DM Sans"/>
                        </a:rPr>
                        <a:t>13</a:t>
                      </a:r>
                    </a:p>
                  </a:txBody>
                  <a:tcPr anchor="ctr" marL="128016" marR="128016">
                    <a:solidFill>
                      <a:srgbClr val="FFFEFB"/>
                    </a:solidFill>
                  </a:tcPr>
                </a:tc>
                <a:tc>
                  <a:txBody>
                    <a:bodyPr/>
                    <a:lstStyle/>
                    <a:p>
                      <a:pPr algn="r"/>
                      <a:r>
                        <a:rPr sz="1400" b="1">
                          <a:solidFill>
                            <a:srgbClr val="1E7B6E"/>
                          </a:solidFill>
                          <a:latin typeface="DM Sans"/>
                        </a:rPr>
                        <a:t>5</a:t>
                      </a:r>
                    </a:p>
                  </a:txBody>
                  <a:tcPr anchor="ctr" marL="128016" marR="128016">
                    <a:solidFill>
                      <a:srgbClr val="FFFEFB"/>
                    </a:solidFill>
                  </a:tcPr>
                </a:tc>
              </a:tr>
              <a:tr h="487680">
                <a:tc>
                  <a:txBody>
                    <a:bodyPr/>
                    <a:lstStyle/>
                    <a:p>
                      <a:pPr algn="l"/>
                      <a:r>
                        <a:rPr sz="1400" b="0">
                          <a:solidFill>
                            <a:srgbClr val="0E1B33"/>
                          </a:solidFill>
                          <a:latin typeface="DM Sans"/>
                        </a:rPr>
                        <a:t>Biggest single deduction (median)</a:t>
                      </a:r>
                    </a:p>
                  </a:txBody>
                  <a:tcPr anchor="ctr" marL="128016" marR="128016">
                    <a:solidFill>
                      <a:srgbClr val="F3F1EB"/>
                    </a:solidFill>
                  </a:tcPr>
                </a:tc>
                <a:tc>
                  <a:txBody>
                    <a:bodyPr/>
                    <a:lstStyle/>
                    <a:p>
                      <a:pPr algn="r"/>
                      <a:r>
                        <a:rPr sz="1400" b="0">
                          <a:solidFill>
                            <a:srgbClr val="B33A2B"/>
                          </a:solidFill>
                          <a:latin typeface="DM Sans"/>
                        </a:rPr>
                        <a:t>2.0×</a:t>
                      </a:r>
                    </a:p>
                  </a:txBody>
                  <a:tcPr anchor="ctr" marL="128016" marR="128016">
                    <a:solidFill>
                      <a:srgbClr val="F3F1EB"/>
                    </a:solidFill>
                  </a:tcPr>
                </a:tc>
                <a:tc>
                  <a:txBody>
                    <a:bodyPr/>
                    <a:lstStyle/>
                    <a:p>
                      <a:pPr algn="r"/>
                      <a:r>
                        <a:rPr sz="1400" b="1">
                          <a:solidFill>
                            <a:srgbClr val="1E7B6E"/>
                          </a:solidFill>
                          <a:latin typeface="DM Sans"/>
                        </a:rPr>
                        <a:t>1.2×</a:t>
                      </a:r>
                    </a:p>
                  </a:txBody>
                  <a:tcPr anchor="ctr" marL="128016" marR="128016">
                    <a:solidFill>
                      <a:srgbClr val="F3F1EB"/>
                    </a:solidFill>
                  </a:tcPr>
                </a:tc>
              </a:tr>
              <a:tr h="487680">
                <a:tc>
                  <a:txBody>
                    <a:bodyPr/>
                    <a:lstStyle/>
                    <a:p>
                      <a:pPr algn="l"/>
                      <a:r>
                        <a:rPr sz="1400" b="0">
                          <a:solidFill>
                            <a:srgbClr val="0E1B33"/>
                          </a:solidFill>
                          <a:latin typeface="DM Sans"/>
                        </a:rPr>
                        <a:t>Rule breaks found by an independent audit</a:t>
                      </a:r>
                    </a:p>
                  </a:txBody>
                  <a:tcPr anchor="ctr" marL="128016" marR="128016">
                    <a:solidFill>
                      <a:srgbClr val="FFFEFB"/>
                    </a:solidFill>
                  </a:tcPr>
                </a:tc>
                <a:tc>
                  <a:txBody>
                    <a:bodyPr/>
                    <a:lstStyle/>
                    <a:p>
                      <a:pPr algn="r"/>
                      <a:r>
                        <a:rPr sz="1400" b="0">
                          <a:solidFill>
                            <a:srgbClr val="B33A2B"/>
                          </a:solidFill>
                          <a:latin typeface="DM Sans"/>
                        </a:rPr>
                        <a:t>–</a:t>
                      </a:r>
                    </a:p>
                  </a:txBody>
                  <a:tcPr anchor="ctr" marL="128016" marR="128016">
                    <a:solidFill>
                      <a:srgbClr val="FFFEFB"/>
                    </a:solidFill>
                  </a:tcPr>
                </a:tc>
                <a:tc>
                  <a:txBody>
                    <a:bodyPr/>
                    <a:lstStyle/>
                    <a:p>
                      <a:pPr algn="r"/>
                      <a:r>
                        <a:rPr sz="1400" b="1">
                          <a:solidFill>
                            <a:srgbClr val="1E7B6E"/>
                          </a:solidFill>
                          <a:latin typeface="DM Sans"/>
                        </a:rPr>
                        <a:t>0 of 73 messages</a:t>
                      </a:r>
                    </a:p>
                  </a:txBody>
                  <a:tcPr anchor="ctr" marL="128016" marR="128016">
                    <a:solidFill>
                      <a:srgbClr val="FFFEFB"/>
                    </a:solidFill>
                  </a:tcPr>
                </a:tc>
              </a:tr>
            </a:tbl>
          </a:graphicData>
        </a:graphic>
      </p:graphicFrame>
      <p:sp>
        <p:nvSpPr>
          <p:cNvPr id="48" name="Rounded Rectangle 47"/>
          <p:cNvSpPr/>
          <p:nvPr/>
        </p:nvSpPr>
        <p:spPr>
          <a:xfrm>
            <a:off x="7863840" y="1847088"/>
            <a:ext cx="3520440" cy="841248"/>
          </a:xfrm>
          <a:prstGeom prst="roundRect">
            <a:avLst>
              <a:gd name="adj" fmla="val 6000"/>
            </a:avLst>
          </a:prstGeom>
          <a:solidFill>
            <a:srgbClr val="0E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92440" y="1956816"/>
            <a:ext cx="1371600" cy="594360"/>
          </a:xfrm>
          <a:prstGeom prst="rect">
            <a:avLst/>
          </a:prstGeom>
          <a:noFill/>
        </p:spPr>
        <p:txBody>
          <a:bodyPr wrap="square" lIns="0" rIns="0" tIns="0" bIns="0" anchor="ctr">
            <a:spAutoFit/>
          </a:bodyPr>
          <a:lstStyle/>
          <a:p>
            <a:r>
              <a:rPr sz="2800" b="1">
                <a:solidFill>
                  <a:srgbClr val="F2A93B"/>
                </a:solidFill>
                <a:latin typeface="Fraunces"/>
              </a:rPr>
              <a:t>40/40</a:t>
            </a:r>
          </a:p>
        </p:txBody>
      </p:sp>
      <p:sp>
        <p:nvSpPr>
          <p:cNvPr id="50" name="TextBox 49"/>
          <p:cNvSpPr txBox="1"/>
          <p:nvPr/>
        </p:nvSpPr>
        <p:spPr>
          <a:xfrm>
            <a:off x="9418320" y="1956816"/>
            <a:ext cx="1828800" cy="594360"/>
          </a:xfrm>
          <a:prstGeom prst="rect">
            <a:avLst/>
          </a:prstGeom>
          <a:noFill/>
        </p:spPr>
        <p:txBody>
          <a:bodyPr wrap="square" lIns="0" rIns="0" tIns="0" bIns="0" anchor="ctr">
            <a:spAutoFit/>
          </a:bodyPr>
          <a:lstStyle/>
          <a:p>
            <a:r>
              <a:rPr sz="1250" b="0">
                <a:solidFill>
                  <a:srgbClr val="D6DCE7"/>
                </a:solidFill>
                <a:latin typeface="DM Sans"/>
              </a:rPr>
              <a:t>scenario checks pass, live</a:t>
            </a:r>
          </a:p>
        </p:txBody>
      </p:sp>
      <p:sp>
        <p:nvSpPr>
          <p:cNvPr id="51" name="Rounded Rectangle 50"/>
          <p:cNvSpPr/>
          <p:nvPr/>
        </p:nvSpPr>
        <p:spPr>
          <a:xfrm>
            <a:off x="7863840" y="2834640"/>
            <a:ext cx="3520440" cy="841248"/>
          </a:xfrm>
          <a:prstGeom prst="roundRect">
            <a:avLst>
              <a:gd name="adj" fmla="val 6000"/>
            </a:avLst>
          </a:prstGeom>
          <a:solidFill>
            <a:srgbClr val="0E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92440" y="2944368"/>
            <a:ext cx="1371600" cy="594360"/>
          </a:xfrm>
          <a:prstGeom prst="rect">
            <a:avLst/>
          </a:prstGeom>
          <a:noFill/>
        </p:spPr>
        <p:txBody>
          <a:bodyPr wrap="square" lIns="0" rIns="0" tIns="0" bIns="0" anchor="ctr">
            <a:spAutoFit/>
          </a:bodyPr>
          <a:lstStyle/>
          <a:p>
            <a:r>
              <a:rPr sz="2800" b="1">
                <a:solidFill>
                  <a:srgbClr val="F2A93B"/>
                </a:solidFill>
                <a:latin typeface="Fraunces"/>
              </a:rPr>
              <a:t>160</a:t>
            </a:r>
          </a:p>
        </p:txBody>
      </p:sp>
      <p:sp>
        <p:nvSpPr>
          <p:cNvPr id="53" name="TextBox 52"/>
          <p:cNvSpPr txBox="1"/>
          <p:nvPr/>
        </p:nvSpPr>
        <p:spPr>
          <a:xfrm>
            <a:off x="9418320" y="2944368"/>
            <a:ext cx="1828800" cy="594360"/>
          </a:xfrm>
          <a:prstGeom prst="rect">
            <a:avLst/>
          </a:prstGeom>
          <a:noFill/>
        </p:spPr>
        <p:txBody>
          <a:bodyPr wrap="square" lIns="0" rIns="0" tIns="0" bIns="0" anchor="ctr">
            <a:spAutoFit/>
          </a:bodyPr>
          <a:lstStyle/>
          <a:p>
            <a:r>
              <a:rPr sz="1250" b="0">
                <a:solidFill>
                  <a:srgbClr val="D6DCE7"/>
                </a:solidFill>
                <a:latin typeface="DM Sans"/>
              </a:rPr>
              <a:t>automated tests</a:t>
            </a:r>
          </a:p>
        </p:txBody>
      </p:sp>
      <p:sp>
        <p:nvSpPr>
          <p:cNvPr id="54" name="Rounded Rectangle 53"/>
          <p:cNvSpPr/>
          <p:nvPr/>
        </p:nvSpPr>
        <p:spPr>
          <a:xfrm>
            <a:off x="7863840" y="3822191"/>
            <a:ext cx="3520440" cy="841248"/>
          </a:xfrm>
          <a:prstGeom prst="roundRect">
            <a:avLst>
              <a:gd name="adj" fmla="val 6000"/>
            </a:avLst>
          </a:prstGeom>
          <a:solidFill>
            <a:srgbClr val="0E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92440" y="3931920"/>
            <a:ext cx="1371600" cy="594360"/>
          </a:xfrm>
          <a:prstGeom prst="rect">
            <a:avLst/>
          </a:prstGeom>
          <a:noFill/>
        </p:spPr>
        <p:txBody>
          <a:bodyPr wrap="square" lIns="0" rIns="0" tIns="0" bIns="0" anchor="ctr">
            <a:spAutoFit/>
          </a:bodyPr>
          <a:lstStyle/>
          <a:p>
            <a:r>
              <a:rPr sz="2800" b="1">
                <a:solidFill>
                  <a:srgbClr val="F2A93B"/>
                </a:solidFill>
                <a:latin typeface="Fraunces"/>
              </a:rPr>
              <a:t>0</a:t>
            </a:r>
          </a:p>
        </p:txBody>
      </p:sp>
      <p:sp>
        <p:nvSpPr>
          <p:cNvPr id="56" name="TextBox 55"/>
          <p:cNvSpPr txBox="1"/>
          <p:nvPr/>
        </p:nvSpPr>
        <p:spPr>
          <a:xfrm>
            <a:off x="9418320" y="3931920"/>
            <a:ext cx="1828800" cy="594360"/>
          </a:xfrm>
          <a:prstGeom prst="rect">
            <a:avLst/>
          </a:prstGeom>
          <a:noFill/>
        </p:spPr>
        <p:txBody>
          <a:bodyPr wrap="square" lIns="0" rIns="0" tIns="0" bIns="0" anchor="ctr">
            <a:spAutoFit/>
          </a:bodyPr>
          <a:lstStyle/>
          <a:p>
            <a:r>
              <a:rPr sz="1250" b="0">
                <a:solidFill>
                  <a:srgbClr val="D6DCE7"/>
                </a:solidFill>
                <a:latin typeface="DM Sans"/>
              </a:rPr>
              <a:t>rule breaks found</a:t>
            </a:r>
          </a:p>
        </p:txBody>
      </p:sp>
      <p:sp>
        <p:nvSpPr>
          <p:cNvPr id="57" name="TextBox 56"/>
          <p:cNvSpPr txBox="1"/>
          <p:nvPr/>
        </p:nvSpPr>
        <p:spPr>
          <a:xfrm>
            <a:off x="813816" y="4983480"/>
            <a:ext cx="10607040" cy="548640"/>
          </a:xfrm>
          <a:prstGeom prst="rect">
            <a:avLst/>
          </a:prstGeom>
          <a:noFill/>
        </p:spPr>
        <p:txBody>
          <a:bodyPr wrap="square" lIns="0" rIns="0" tIns="0" bIns="0">
            <a:spAutoFit/>
          </a:bodyPr>
          <a:lstStyle/>
          <a:p>
            <a:r>
              <a:rPr sz="1300" b="1">
                <a:solidFill>
                  <a:srgbClr val="0E1B33"/>
                </a:solidFill>
                <a:latin typeface="DM Sans"/>
              </a:rPr>
              <a:t>Lender what-if: </a:t>
            </a:r>
            <a:r>
              <a:rPr sz="1300" b="0">
                <a:solidFill>
                  <a:srgbClr val="44506A"/>
                </a:solidFill>
                <a:latin typeface="DM Sans"/>
              </a:rPr>
              <a:t>pause up to 2 days instead of 3, and 5 merchants overdue become 13. Lenders tune the menu with evidence before it goes live.</a:t>
            </a:r>
          </a:p>
        </p:txBody>
      </p:sp>
      <p:sp>
        <p:nvSpPr>
          <p:cNvPr id="58" name="TextBox 57"/>
          <p:cNvSpPr txBox="1"/>
          <p:nvPr/>
        </p:nvSpPr>
        <p:spPr>
          <a:xfrm>
            <a:off x="813816" y="5596128"/>
            <a:ext cx="10607040" cy="457200"/>
          </a:xfrm>
          <a:prstGeom prst="rect">
            <a:avLst/>
          </a:prstGeom>
          <a:noFill/>
        </p:spPr>
        <p:txBody>
          <a:bodyPr wrap="square" lIns="0" rIns="0" tIns="0" bIns="0">
            <a:spAutoFit/>
          </a:bodyPr>
          <a:lstStyle/>
          <a:p>
            <a:r>
              <a:rPr sz="1100" b="0">
                <a:solidFill>
                  <a:srgbClr val="5D6679"/>
                </a:solidFill>
                <a:latin typeface="DM Sans"/>
              </a:rPr>
              <a:t>Synthetic merchants, 21 Oct–10 Nov. The 5 still overdue are with a person by design (bereavement, ICU, review, grievance, not eligible). This shows how a pilot would be measured, not a real-world result.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TECH STACK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How Sambhal is built</a:t>
            </a:r>
            <a:endParaRPr lang="en-US" sz="3600" dirty="0"/>
          </a:p>
        </p:txBody>
      </p:sp>
      <p:sp>
        <p:nvSpPr>
          <p:cNvPr id="4" name="Text 2"/>
          <p:cNvSpPr/>
          <p:nvPr/>
        </p:nvSpPr>
        <p:spPr>
          <a:xfrm>
            <a:off x="812800" y="1884611"/>
            <a:ext cx="22891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679"/>
                </a:solidFill>
                <a:latin typeface="DM Sans" pitchFamily="34" charset="0"/>
                <a:ea typeface="DM Sans" pitchFamily="34" charset="-122"/>
                <a:cs typeface="DM Sans" pitchFamily="34" charset="-120"/>
              </a:rPr>
              <a:t>INPUTS</a:t>
            </a:r>
            <a:endParaRPr lang="en-US" sz="1200" dirty="0"/>
          </a:p>
        </p:txBody>
      </p:sp>
      <p:sp>
        <p:nvSpPr>
          <p:cNvPr id="5" name="Shape 3"/>
          <p:cNvSpPr/>
          <p:nvPr/>
        </p:nvSpPr>
        <p:spPr>
          <a:xfrm>
            <a:off x="815975" y="2202706"/>
            <a:ext cx="2216150" cy="925711"/>
          </a:xfrm>
          <a:prstGeom prst="roundRect">
            <a:avLst>
              <a:gd name="adj" fmla="val 7889"/>
            </a:avLst>
          </a:prstGeom>
          <a:solidFill>
            <a:srgbClr val="FFFEFB"/>
          </a:solidFill>
          <a:ln w="6350">
            <a:solidFill>
              <a:srgbClr val="E2DED4"/>
            </a:solidFill>
            <a:prstDash val="solid"/>
          </a:ln>
        </p:spPr>
        <p:txBody>
          <a:bodyPr/>
          <a:p/>
        </p:txBody>
      </p:sp>
      <p:sp>
        <p:nvSpPr>
          <p:cNvPr id="6" name="Text 4"/>
          <p:cNvSpPr/>
          <p:nvPr/>
        </p:nvSpPr>
        <p:spPr>
          <a:xfrm>
            <a:off x="971550" y="23328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Daily settlements</a:t>
            </a:r>
            <a:endParaRPr lang="en-US" sz="1200" dirty="0"/>
          </a:p>
        </p:txBody>
      </p:sp>
      <p:sp>
        <p:nvSpPr>
          <p:cNvPr id="7" name="Text 5"/>
          <p:cNvSpPr/>
          <p:nvPr/>
        </p:nvSpPr>
        <p:spPr>
          <a:xfrm>
            <a:off x="971550" y="2571601"/>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Paytm merchant payments</a:t>
            </a:r>
            <a:endParaRPr lang="en-US" sz="1200" dirty="0"/>
          </a:p>
        </p:txBody>
      </p:sp>
      <p:sp>
        <p:nvSpPr>
          <p:cNvPr id="8" name="Shape 6"/>
          <p:cNvSpPr/>
          <p:nvPr/>
        </p:nvSpPr>
        <p:spPr>
          <a:xfrm>
            <a:off x="815975" y="3236367"/>
            <a:ext cx="2216150" cy="712391"/>
          </a:xfrm>
          <a:prstGeom prst="roundRect">
            <a:avLst>
              <a:gd name="adj" fmla="val 10251"/>
            </a:avLst>
          </a:prstGeom>
          <a:solidFill>
            <a:srgbClr val="FFFEFB"/>
          </a:solidFill>
          <a:ln w="6350">
            <a:solidFill>
              <a:srgbClr val="E2DED4"/>
            </a:solidFill>
            <a:prstDash val="solid"/>
          </a:ln>
        </p:spPr>
        <p:txBody>
          <a:bodyPr/>
          <a:p/>
        </p:txBody>
      </p:sp>
      <p:sp>
        <p:nvSpPr>
          <p:cNvPr id="9" name="Text 7"/>
          <p:cNvSpPr/>
          <p:nvPr/>
        </p:nvSpPr>
        <p:spPr>
          <a:xfrm>
            <a:off x="971550" y="336654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Loan ledger &amp; options</a:t>
            </a:r>
            <a:endParaRPr lang="en-US" sz="1200" dirty="0"/>
          </a:p>
        </p:txBody>
      </p:sp>
      <p:sp>
        <p:nvSpPr>
          <p:cNvPr id="10" name="Text 8"/>
          <p:cNvSpPr/>
          <p:nvPr/>
        </p:nvSpPr>
        <p:spPr>
          <a:xfrm>
            <a:off x="971550" y="360526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From the lending partner</a:t>
            </a:r>
            <a:endParaRPr lang="en-US" sz="1200" dirty="0"/>
          </a:p>
        </p:txBody>
      </p:sp>
      <p:sp>
        <p:nvSpPr>
          <p:cNvPr id="11" name="Shape 9"/>
          <p:cNvSpPr/>
          <p:nvPr/>
        </p:nvSpPr>
        <p:spPr>
          <a:xfrm>
            <a:off x="815975" y="4056707"/>
            <a:ext cx="2216150" cy="925711"/>
          </a:xfrm>
          <a:prstGeom prst="roundRect">
            <a:avLst>
              <a:gd name="adj" fmla="val 7889"/>
            </a:avLst>
          </a:prstGeom>
          <a:solidFill>
            <a:srgbClr val="FFFEFB"/>
          </a:solidFill>
          <a:ln w="6350">
            <a:solidFill>
              <a:srgbClr val="E2DED4"/>
            </a:solidFill>
            <a:prstDash val="solid"/>
          </a:ln>
        </p:spPr>
        <p:txBody>
          <a:bodyPr/>
          <a:p/>
        </p:txBody>
      </p:sp>
      <p:sp>
        <p:nvSpPr>
          <p:cNvPr id="12" name="Text 10"/>
          <p:cNvSpPr/>
          <p:nvPr/>
        </p:nvSpPr>
        <p:spPr>
          <a:xfrm>
            <a:off x="971550" y="418688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Neighbourhood signal</a:t>
            </a:r>
            <a:endParaRPr lang="en-US" sz="1200" dirty="0"/>
          </a:p>
        </p:txBody>
      </p:sp>
      <p:sp>
        <p:nvSpPr>
          <p:cNvPr id="13" name="Text 11"/>
          <p:cNvSpPr/>
          <p:nvPr/>
        </p:nvSpPr>
        <p:spPr>
          <a:xfrm>
            <a:off x="971550" y="4425603"/>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Many shops in one area dipping together</a:t>
            </a:r>
            <a:endParaRPr lang="en-US" sz="1200" dirty="0"/>
          </a:p>
        </p:txBody>
      </p:sp>
      <p:pic>
        <p:nvPicPr>
          <p:cNvPr id="14" name="Image 0" descr="arrow-right">    </p:cNvPr>
          <p:cNvPicPr>
            <a:picLocks noChangeAspect="1"/>
          </p:cNvPicPr>
          <p:nvPr/>
        </p:nvPicPr>
        <p:blipFill>
          <a:blip r:embed="rId1"/>
          <a:srcRect l="0" r="0" t="0" b="0"/>
          <a:stretch/>
        </p:blipFill>
        <p:spPr>
          <a:xfrm>
            <a:off x="3187700" y="3465562"/>
            <a:ext cx="254000" cy="152400"/>
          </a:xfrm>
          <a:prstGeom prst="rect">
            <a:avLst/>
          </a:prstGeom>
        </p:spPr>
      </p:pic>
      <p:sp>
        <p:nvSpPr>
          <p:cNvPr id="15" name="Text 12"/>
          <p:cNvSpPr/>
          <p:nvPr/>
        </p:nvSpPr>
        <p:spPr>
          <a:xfrm>
            <a:off x="3594100" y="1884611"/>
            <a:ext cx="22891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679"/>
                </a:solidFill>
                <a:latin typeface="DM Sans" pitchFamily="34" charset="0"/>
                <a:ea typeface="DM Sans" pitchFamily="34" charset="-122"/>
                <a:cs typeface="DM Sans" pitchFamily="34" charset="-120"/>
              </a:rPr>
              <a:t>THINK</a:t>
            </a:r>
            <a:endParaRPr lang="en-US" sz="1200" dirty="0"/>
          </a:p>
        </p:txBody>
      </p:sp>
      <p:sp>
        <p:nvSpPr>
          <p:cNvPr id="16" name="Shape 13"/>
          <p:cNvSpPr/>
          <p:nvPr/>
        </p:nvSpPr>
        <p:spPr>
          <a:xfrm>
            <a:off x="3597275" y="2202706"/>
            <a:ext cx="2216150" cy="925711"/>
          </a:xfrm>
          <a:prstGeom prst="roundRect">
            <a:avLst>
              <a:gd name="adj" fmla="val 7889"/>
            </a:avLst>
          </a:prstGeom>
          <a:solidFill>
            <a:srgbClr val="FFFEFB"/>
          </a:solidFill>
          <a:ln w="6350">
            <a:solidFill>
              <a:srgbClr val="E2DED4"/>
            </a:solidFill>
            <a:prstDash val="solid"/>
          </a:ln>
        </p:spPr>
        <p:txBody>
          <a:bodyPr/>
          <a:p/>
        </p:txBody>
      </p:sp>
      <p:sp>
        <p:nvSpPr>
          <p:cNvPr id="17" name="Text 14"/>
          <p:cNvSpPr/>
          <p:nvPr/>
        </p:nvSpPr>
        <p:spPr>
          <a:xfrm>
            <a:off x="3752850" y="23328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Early-warning rule</a:t>
            </a:r>
            <a:endParaRPr lang="en-US" sz="1200" dirty="0"/>
          </a:p>
        </p:txBody>
      </p:sp>
      <p:sp>
        <p:nvSpPr>
          <p:cNvPr id="18" name="Text 15"/>
          <p:cNvSpPr/>
          <p:nvPr/>
        </p:nvSpPr>
        <p:spPr>
          <a:xfrm>
            <a:off x="3752850" y="2571601"/>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Two days below half of normal, or anything overdue</a:t>
            </a:r>
            <a:endParaRPr lang="en-US" sz="1200" dirty="0"/>
          </a:p>
        </p:txBody>
      </p:sp>
      <p:sp>
        <p:nvSpPr>
          <p:cNvPr id="19" name="Shape 16"/>
          <p:cNvSpPr/>
          <p:nvPr/>
        </p:nvSpPr>
        <p:spPr>
          <a:xfrm>
            <a:off x="3597275" y="3236367"/>
            <a:ext cx="2216150" cy="925711"/>
          </a:xfrm>
          <a:prstGeom prst="roundRect">
            <a:avLst>
              <a:gd name="adj" fmla="val 7889"/>
            </a:avLst>
          </a:prstGeom>
          <a:solidFill>
            <a:srgbClr val="FFFEFB"/>
          </a:solidFill>
          <a:ln w="6350">
            <a:solidFill>
              <a:srgbClr val="E2DED4"/>
            </a:solidFill>
            <a:prstDash val="solid"/>
          </a:ln>
        </p:spPr>
        <p:txBody>
          <a:bodyPr/>
          <a:p/>
        </p:txBody>
      </p:sp>
      <p:sp>
        <p:nvSpPr>
          <p:cNvPr id="20" name="Text 17"/>
          <p:cNvSpPr/>
          <p:nvPr/>
        </p:nvSpPr>
        <p:spPr>
          <a:xfrm>
            <a:off x="3752850" y="336654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Agent</a:t>
            </a:r>
            <a:endParaRPr lang="en-US" sz="1200" dirty="0"/>
          </a:p>
        </p:txBody>
      </p:sp>
      <p:sp>
        <p:nvSpPr>
          <p:cNvPr id="21" name="Text 18"/>
          <p:cNvSpPr/>
          <p:nvPr/>
        </p:nvSpPr>
        <p:spPr>
          <a:xfrm>
            <a:off x="3752850" y="3605262"/>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Detect → talk → fix → verify → prepare</a:t>
            </a:r>
            <a:endParaRPr lang="en-US" sz="1200" dirty="0"/>
          </a:p>
        </p:txBody>
      </p:sp>
      <p:sp>
        <p:nvSpPr>
          <p:cNvPr id="22" name="Shape 19"/>
          <p:cNvSpPr/>
          <p:nvPr/>
        </p:nvSpPr>
        <p:spPr>
          <a:xfrm>
            <a:off x="3597275" y="4270028"/>
            <a:ext cx="2216150" cy="925711"/>
          </a:xfrm>
          <a:prstGeom prst="roundRect">
            <a:avLst>
              <a:gd name="adj" fmla="val 7889"/>
            </a:avLst>
          </a:prstGeom>
          <a:solidFill>
            <a:srgbClr val="FFFEFB"/>
          </a:solidFill>
          <a:ln w="6350">
            <a:solidFill>
              <a:srgbClr val="E2DED4"/>
            </a:solidFill>
            <a:prstDash val="solid"/>
          </a:ln>
        </p:spPr>
        <p:txBody>
          <a:bodyPr/>
          <a:p/>
        </p:txBody>
      </p:sp>
      <p:sp>
        <p:nvSpPr>
          <p:cNvPr id="23" name="Text 20"/>
          <p:cNvSpPr/>
          <p:nvPr/>
        </p:nvSpPr>
        <p:spPr>
          <a:xfrm>
            <a:off x="3752850" y="440020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Language model</a:t>
            </a:r>
            <a:endParaRPr lang="en-US" sz="1200" dirty="0"/>
          </a:p>
        </p:txBody>
      </p:sp>
      <p:sp>
        <p:nvSpPr>
          <p:cNvPr id="24" name="Text 21"/>
          <p:cNvSpPr/>
          <p:nvPr/>
        </p:nvSpPr>
        <p:spPr>
          <a:xfrm>
            <a:off x="3752850" y="4638923"/>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Sarvam-105b reads replies; keyword rules as a safety net</a:t>
            </a:r>
            <a:endParaRPr lang="en-US" sz="1200" dirty="0"/>
          </a:p>
        </p:txBody>
      </p:sp>
      <p:pic>
        <p:nvPicPr>
          <p:cNvPr id="25" name="Image 1" descr="arrow-right">    </p:cNvPr>
          <p:cNvPicPr>
            <a:picLocks noChangeAspect="1"/>
          </p:cNvPicPr>
          <p:nvPr/>
        </p:nvPicPr>
        <p:blipFill>
          <a:blip r:embed="rId2"/>
          <a:srcRect l="0" r="0" t="0" b="0"/>
          <a:stretch/>
        </p:blipFill>
        <p:spPr>
          <a:xfrm>
            <a:off x="5969000" y="3465562"/>
            <a:ext cx="254000" cy="152400"/>
          </a:xfrm>
          <a:prstGeom prst="rect">
            <a:avLst/>
          </a:prstGeom>
        </p:spPr>
      </p:pic>
      <p:sp>
        <p:nvSpPr>
          <p:cNvPr id="26" name="Text 22"/>
          <p:cNvSpPr/>
          <p:nvPr/>
        </p:nvSpPr>
        <p:spPr>
          <a:xfrm>
            <a:off x="6375400" y="1884611"/>
            <a:ext cx="22891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679"/>
                </a:solidFill>
                <a:latin typeface="DM Sans" pitchFamily="34" charset="0"/>
                <a:ea typeface="DM Sans" pitchFamily="34" charset="-122"/>
                <a:cs typeface="DM Sans" pitchFamily="34" charset="-120"/>
              </a:rPr>
              <a:t>GUARD</a:t>
            </a:r>
            <a:endParaRPr lang="en-US" sz="1200" dirty="0"/>
          </a:p>
        </p:txBody>
      </p:sp>
      <p:sp>
        <p:nvSpPr>
          <p:cNvPr id="27" name="Shape 23"/>
          <p:cNvSpPr/>
          <p:nvPr/>
        </p:nvSpPr>
        <p:spPr>
          <a:xfrm>
            <a:off x="6375400" y="2199531"/>
            <a:ext cx="2222500" cy="919361"/>
          </a:xfrm>
          <a:prstGeom prst="roundRect">
            <a:avLst>
              <a:gd name="adj" fmla="val 8288"/>
            </a:avLst>
          </a:prstGeom>
          <a:solidFill>
            <a:srgbClr val="0E1B33"/>
          </a:solidFill>
          <a:ln/>
        </p:spPr>
        <p:txBody>
          <a:bodyPr/>
          <a:p/>
        </p:txBody>
      </p:sp>
      <p:sp>
        <p:nvSpPr>
          <p:cNvPr id="28" name="Text 24"/>
          <p:cNvSpPr/>
          <p:nvPr/>
        </p:nvSpPr>
        <p:spPr>
          <a:xfrm>
            <a:off x="6527800" y="2326531"/>
            <a:ext cx="19752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93B"/>
                </a:solidFill>
                <a:latin typeface="DM Sans" pitchFamily="34" charset="0"/>
                <a:ea typeface="DM Sans" pitchFamily="34" charset="-122"/>
                <a:cs typeface="DM Sans" pitchFamily="34" charset="-120"/>
              </a:rPr>
              <a:t>Policy engine</a:t>
            </a:r>
            <a:endParaRPr lang="en-US" sz="1200" dirty="0"/>
          </a:p>
        </p:txBody>
      </p:sp>
      <p:sp>
        <p:nvSpPr>
          <p:cNvPr id="29" name="Text 25"/>
          <p:cNvSpPr/>
          <p:nvPr/>
        </p:nvSpPr>
        <p:spPr>
          <a:xfrm>
            <a:off x="6527800" y="2565251"/>
            <a:ext cx="19752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7"/>
                </a:solidFill>
                <a:latin typeface="DM Sans" pitchFamily="34" charset="0"/>
                <a:ea typeface="DM Sans" pitchFamily="34" charset="-122"/>
                <a:cs typeface="DM Sans" pitchFamily="34" charset="-120"/>
              </a:rPr>
              <a:t>Fixed rules the AI can’t override</a:t>
            </a:r>
            <a:endParaRPr lang="en-US" sz="1200" dirty="0"/>
          </a:p>
        </p:txBody>
      </p:sp>
      <p:sp>
        <p:nvSpPr>
          <p:cNvPr id="30" name="Shape 26"/>
          <p:cNvSpPr/>
          <p:nvPr/>
        </p:nvSpPr>
        <p:spPr>
          <a:xfrm>
            <a:off x="6375400" y="3220492"/>
            <a:ext cx="2222500" cy="919361"/>
          </a:xfrm>
          <a:prstGeom prst="roundRect">
            <a:avLst>
              <a:gd name="adj" fmla="val 8288"/>
            </a:avLst>
          </a:prstGeom>
          <a:solidFill>
            <a:srgbClr val="0E1B33"/>
          </a:solidFill>
          <a:ln/>
        </p:spPr>
        <p:txBody>
          <a:bodyPr/>
          <a:p/>
        </p:txBody>
      </p:sp>
      <p:sp>
        <p:nvSpPr>
          <p:cNvPr id="31" name="Text 27"/>
          <p:cNvSpPr/>
          <p:nvPr/>
        </p:nvSpPr>
        <p:spPr>
          <a:xfrm>
            <a:off x="6527800" y="3347492"/>
            <a:ext cx="19752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93B"/>
                </a:solidFill>
                <a:latin typeface="DM Sans" pitchFamily="34" charset="0"/>
                <a:ea typeface="DM Sans" pitchFamily="34" charset="-122"/>
                <a:cs typeface="DM Sans" pitchFamily="34" charset="-120"/>
              </a:rPr>
              <a:t>Contact rules</a:t>
            </a:r>
            <a:endParaRPr lang="en-US" sz="1200" dirty="0"/>
          </a:p>
        </p:txBody>
      </p:sp>
      <p:sp>
        <p:nvSpPr>
          <p:cNvPr id="32" name="Text 28"/>
          <p:cNvSpPr/>
          <p:nvPr/>
        </p:nvSpPr>
        <p:spPr>
          <a:xfrm>
            <a:off x="6527800" y="3586212"/>
            <a:ext cx="19752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7"/>
                </a:solidFill>
                <a:latin typeface="DM Sans" pitchFamily="34" charset="0"/>
                <a:ea typeface="DM Sans" pitchFamily="34" charset="-122"/>
                <a:cs typeface="DM Sans" pitchFamily="34" charset="-120"/>
              </a:rPr>
              <a:t>RBI hours, no-contact days, call limits</a:t>
            </a:r>
            <a:endParaRPr lang="en-US" sz="1200" dirty="0"/>
          </a:p>
        </p:txBody>
      </p:sp>
      <p:pic>
        <p:nvPicPr>
          <p:cNvPr id="33" name="Image 2" descr="arrow-right">    </p:cNvPr>
          <p:cNvPicPr>
            <a:picLocks noChangeAspect="1"/>
          </p:cNvPicPr>
          <p:nvPr/>
        </p:nvPicPr>
        <p:blipFill>
          <a:blip r:embed="rId3"/>
          <a:srcRect l="0" r="0" t="0" b="0"/>
          <a:stretch/>
        </p:blipFill>
        <p:spPr>
          <a:xfrm>
            <a:off x="8750300" y="3465562"/>
            <a:ext cx="254000" cy="152400"/>
          </a:xfrm>
          <a:prstGeom prst="rect">
            <a:avLst/>
          </a:prstGeom>
        </p:spPr>
      </p:pic>
      <p:sp>
        <p:nvSpPr>
          <p:cNvPr id="34" name="Text 29"/>
          <p:cNvSpPr/>
          <p:nvPr/>
        </p:nvSpPr>
        <p:spPr>
          <a:xfrm>
            <a:off x="9156700" y="1884611"/>
            <a:ext cx="22891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679"/>
                </a:solidFill>
                <a:latin typeface="DM Sans" pitchFamily="34" charset="0"/>
                <a:ea typeface="DM Sans" pitchFamily="34" charset="-122"/>
                <a:cs typeface="DM Sans" pitchFamily="34" charset="-120"/>
              </a:rPr>
              <a:t>ACT AND PROVE</a:t>
            </a:r>
            <a:endParaRPr lang="en-US" sz="1200" dirty="0"/>
          </a:p>
        </p:txBody>
      </p:sp>
      <p:sp>
        <p:nvSpPr>
          <p:cNvPr id="35" name="Shape 30"/>
          <p:cNvSpPr/>
          <p:nvPr/>
        </p:nvSpPr>
        <p:spPr>
          <a:xfrm>
            <a:off x="9159875" y="2202706"/>
            <a:ext cx="2216150" cy="925711"/>
          </a:xfrm>
          <a:prstGeom prst="roundRect">
            <a:avLst>
              <a:gd name="adj" fmla="val 7889"/>
            </a:avLst>
          </a:prstGeom>
          <a:solidFill>
            <a:srgbClr val="FFFEFB"/>
          </a:solidFill>
          <a:ln w="6350">
            <a:solidFill>
              <a:srgbClr val="E2DED4"/>
            </a:solidFill>
            <a:prstDash val="solid"/>
          </a:ln>
        </p:spPr>
        <p:txBody>
          <a:bodyPr/>
          <a:p/>
        </p:txBody>
      </p:sp>
      <p:sp>
        <p:nvSpPr>
          <p:cNvPr id="36" name="Text 31"/>
          <p:cNvSpPr/>
          <p:nvPr/>
        </p:nvSpPr>
        <p:spPr>
          <a:xfrm>
            <a:off x="9315450" y="23328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Indic voice</a:t>
            </a:r>
            <a:endParaRPr lang="en-US" sz="1200" dirty="0"/>
          </a:p>
        </p:txBody>
      </p:sp>
      <p:sp>
        <p:nvSpPr>
          <p:cNvPr id="37" name="Text 32"/>
          <p:cNvSpPr/>
          <p:nvPr/>
        </p:nvSpPr>
        <p:spPr>
          <a:xfrm>
            <a:off x="9315450" y="2571601"/>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Sarvam Saaras v4 and Bulbul v3: Kannada, Hindi, English</a:t>
            </a:r>
            <a:endParaRPr lang="en-US" sz="1200" dirty="0"/>
          </a:p>
        </p:txBody>
      </p:sp>
      <p:sp>
        <p:nvSpPr>
          <p:cNvPr id="38" name="Shape 33"/>
          <p:cNvSpPr/>
          <p:nvPr/>
        </p:nvSpPr>
        <p:spPr>
          <a:xfrm>
            <a:off x="9159875" y="3236367"/>
            <a:ext cx="2216150" cy="925711"/>
          </a:xfrm>
          <a:prstGeom prst="roundRect">
            <a:avLst>
              <a:gd name="adj" fmla="val 7889"/>
            </a:avLst>
          </a:prstGeom>
          <a:solidFill>
            <a:srgbClr val="FFFEFB"/>
          </a:solidFill>
          <a:ln w="6350">
            <a:solidFill>
              <a:srgbClr val="E2DED4"/>
            </a:solidFill>
            <a:prstDash val="solid"/>
          </a:ln>
        </p:spPr>
        <p:txBody>
          <a:bodyPr/>
          <a:p/>
        </p:txBody>
      </p:sp>
      <p:sp>
        <p:nvSpPr>
          <p:cNvPr id="39" name="Text 34"/>
          <p:cNvSpPr/>
          <p:nvPr/>
        </p:nvSpPr>
        <p:spPr>
          <a:xfrm>
            <a:off x="9315450" y="336654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Lender console</a:t>
            </a:r>
            <a:endParaRPr lang="en-US" sz="1200" dirty="0"/>
          </a:p>
        </p:txBody>
      </p:sp>
      <p:sp>
        <p:nvSpPr>
          <p:cNvPr id="40" name="Text 35"/>
          <p:cNvSpPr/>
          <p:nvPr/>
        </p:nvSpPr>
        <p:spPr>
          <a:xfrm>
            <a:off x="9315450" y="3605262"/>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Cases, staff actions, alerts, audit trail</a:t>
            </a:r>
            <a:endParaRPr lang="en-US" sz="1200" dirty="0"/>
          </a:p>
        </p:txBody>
      </p:sp>
      <p:sp>
        <p:nvSpPr>
          <p:cNvPr id="41" name="Shape 36"/>
          <p:cNvSpPr/>
          <p:nvPr/>
        </p:nvSpPr>
        <p:spPr>
          <a:xfrm>
            <a:off x="9159875" y="4270028"/>
            <a:ext cx="2216150" cy="925711"/>
          </a:xfrm>
          <a:prstGeom prst="roundRect">
            <a:avLst>
              <a:gd name="adj" fmla="val 7889"/>
            </a:avLst>
          </a:prstGeom>
          <a:solidFill>
            <a:srgbClr val="FFFEFB"/>
          </a:solidFill>
          <a:ln w="6350">
            <a:solidFill>
              <a:srgbClr val="E2DED4"/>
            </a:solidFill>
            <a:prstDash val="solid"/>
          </a:ln>
        </p:spPr>
        <p:txBody>
          <a:bodyPr/>
          <a:p/>
        </p:txBody>
      </p:sp>
      <p:sp>
        <p:nvSpPr>
          <p:cNvPr id="42" name="Text 37"/>
          <p:cNvSpPr/>
          <p:nvPr/>
        </p:nvSpPr>
        <p:spPr>
          <a:xfrm>
            <a:off x="9315450" y="4400203"/>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Eval harness</a:t>
            </a:r>
            <a:endParaRPr lang="en-US" sz="1200" dirty="0"/>
          </a:p>
        </p:txBody>
      </p:sp>
      <p:sp>
        <p:nvSpPr>
          <p:cNvPr id="43" name="Text 38"/>
          <p:cNvSpPr/>
          <p:nvPr/>
        </p:nvSpPr>
        <p:spPr>
          <a:xfrm>
            <a:off x="9315450" y="4638923"/>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6A"/>
                </a:solidFill>
                <a:latin typeface="DM Sans" pitchFamily="34" charset="0"/>
                <a:ea typeface="DM Sans" pitchFamily="34" charset="-122"/>
                <a:cs typeface="DM Sans" pitchFamily="34" charset="-120"/>
              </a:rPr>
              <a:t>40 scenario checks, 160 tests; replay vs no Sambhal</a:t>
            </a:r>
            <a:endParaRPr lang="en-US" sz="1200" dirty="0"/>
          </a:p>
        </p:txBody>
      </p:sp>
      <p:sp>
        <p:nvSpPr>
          <p:cNvPr id="44" name="Text 39"/>
          <p:cNvSpPr/>
          <p:nvPr/>
        </p:nvSpPr>
        <p:spPr>
          <a:xfrm>
            <a:off x="812800" y="545291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B33"/>
                </a:solidFill>
                <a:latin typeface="DM Sans" pitchFamily="34" charset="0"/>
                <a:ea typeface="DM Sans" pitchFamily="34" charset="-122"/>
                <a:cs typeface="DM Sans" pitchFamily="34" charset="-120"/>
              </a:rPr>
              <a:t>Stack: </a:t>
            </a:r>
            <a:r>
              <a:rPr lang="en-US" sz="1200" dirty="0">
                <a:solidFill>
                  <a:srgbClr val="44506A"/>
                </a:solidFill>
                <a:latin typeface="DM Sans" pitchFamily="34" charset="0"/>
                <a:ea typeface="DM Sans" pitchFamily="34" charset="-122"/>
                <a:cs typeface="DM Sans" pitchFamily="34" charset="-120"/>
              </a:rPr>
              <a:t>Python · FastAPI · Sarvam AI (Saaras v4, Bulbul v3, Sarvam-105b) · plain JavaScript · pytest · runs offline</a:t>
            </a:r>
            <a:endParaRPr lang="en-US" sz="1200" dirty="0"/>
          </a:p>
        </p:txBody>
      </p:sp>
      <p:sp>
        <p:nvSpPr>
          <p:cNvPr id="45"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Sambhal · Paytm Build for India AI Hackathon – Bengaluru</a:t>
            </a:r>
            <a:endParaRPr lang="en-US" sz="1200" dirty="0"/>
          </a:p>
        </p:txBody>
      </p:sp>
      <p:sp>
        <p:nvSpPr>
          <p:cNvPr id="46" name="Text 4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EC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USP</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Why this is hard to copy</a:t>
            </a:r>
            <a:endParaRPr lang="en-US" sz="3600" dirty="0"/>
          </a:p>
        </p:txBody>
      </p:sp>
      <p:sp>
        <p:nvSpPr>
          <p:cNvPr id="4" name="Shape 2"/>
          <p:cNvSpPr/>
          <p:nvPr/>
        </p:nvSpPr>
        <p:spPr>
          <a:xfrm>
            <a:off x="815975" y="1913186"/>
            <a:ext cx="5175250" cy="1563936"/>
          </a:xfrm>
          <a:prstGeom prst="roundRect">
            <a:avLst>
              <a:gd name="adj" fmla="val 6293"/>
            </a:avLst>
          </a:prstGeom>
          <a:solidFill>
            <a:srgbClr val="FFFEFB"/>
          </a:solidFill>
          <a:ln w="6350">
            <a:solidFill>
              <a:srgbClr val="D9DEE7"/>
            </a:solidFill>
            <a:prstDash val="solid"/>
          </a:ln>
        </p:spPr>
        <p:txBody>
          <a:bodyPr/>
          <a:p/>
        </p:txBody>
      </p:sp>
      <p:sp>
        <p:nvSpPr>
          <p:cNvPr id="5" name="Text 3"/>
          <p:cNvSpPr/>
          <p:nvPr/>
        </p:nvSpPr>
        <p:spPr>
          <a:xfrm>
            <a:off x="1073150" y="2170361"/>
            <a:ext cx="181769"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1</a:t>
            </a:r>
            <a:endParaRPr lang="en-US" sz="2200" dirty="0"/>
          </a:p>
        </p:txBody>
      </p:sp>
      <p:sp>
        <p:nvSpPr>
          <p:cNvPr id="6" name="Text 4"/>
          <p:cNvSpPr/>
          <p:nvPr/>
        </p:nvSpPr>
        <p:spPr>
          <a:xfrm>
            <a:off x="1331119" y="2237036"/>
            <a:ext cx="27998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A signal only Paytm has</a:t>
            </a:r>
            <a:endParaRPr lang="en-US" sz="1600" dirty="0"/>
          </a:p>
        </p:txBody>
      </p:sp>
      <p:sp>
        <p:nvSpPr>
          <p:cNvPr id="7" name="Text 5"/>
          <p:cNvSpPr/>
          <p:nvPr/>
        </p:nvSpPr>
        <p:spPr>
          <a:xfrm>
            <a:off x="1073150" y="2557066"/>
            <a:ext cx="4800727"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Daily settlements from 1.64 crore merchants on subscription (Q2 FY27) show trouble days before a payment is missed. A lender without them sees only the miss.</a:t>
            </a:r>
            <a:endParaRPr lang="en-US" sz="1200" dirty="0"/>
          </a:p>
        </p:txBody>
      </p:sp>
      <p:sp>
        <p:nvSpPr>
          <p:cNvPr id="8" name="Shape 6"/>
          <p:cNvSpPr/>
          <p:nvPr/>
        </p:nvSpPr>
        <p:spPr>
          <a:xfrm>
            <a:off x="6200775" y="1913186"/>
            <a:ext cx="5175250" cy="1563936"/>
          </a:xfrm>
          <a:prstGeom prst="roundRect">
            <a:avLst>
              <a:gd name="adj" fmla="val 6293"/>
            </a:avLst>
          </a:prstGeom>
          <a:solidFill>
            <a:srgbClr val="FFFEFB"/>
          </a:solidFill>
          <a:ln w="6350">
            <a:solidFill>
              <a:srgbClr val="D9DEE7"/>
            </a:solidFill>
            <a:prstDash val="solid"/>
          </a:ln>
        </p:spPr>
        <p:txBody>
          <a:bodyPr/>
          <a:p/>
        </p:txBody>
      </p:sp>
      <p:sp>
        <p:nvSpPr>
          <p:cNvPr id="9" name="Text 7"/>
          <p:cNvSpPr/>
          <p:nvPr/>
        </p:nvSpPr>
        <p:spPr>
          <a:xfrm>
            <a:off x="6457950" y="2170361"/>
            <a:ext cx="223441"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2</a:t>
            </a:r>
            <a:endParaRPr lang="en-US" sz="2200" dirty="0"/>
          </a:p>
        </p:txBody>
      </p:sp>
      <p:sp>
        <p:nvSpPr>
          <p:cNvPr id="10" name="Text 8"/>
          <p:cNvSpPr/>
          <p:nvPr/>
        </p:nvSpPr>
        <p:spPr>
          <a:xfrm>
            <a:off x="6757591" y="2237036"/>
            <a:ext cx="33426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Does what a risk score can’t</a:t>
            </a:r>
            <a:endParaRPr lang="en-US" sz="1600" dirty="0"/>
          </a:p>
        </p:txBody>
      </p:sp>
      <p:sp>
        <p:nvSpPr>
          <p:cNvPr id="11" name="Text 9"/>
          <p:cNvSpPr/>
          <p:nvPr/>
        </p:nvSpPr>
        <p:spPr>
          <a:xfrm>
            <a:off x="6457950" y="2557066"/>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It works on top of the lender’s existing risk model: it holds the conversation, offers the fix and proves it worked.</a:t>
            </a:r>
            <a:endParaRPr lang="en-US" sz="1200" dirty="0"/>
          </a:p>
        </p:txBody>
      </p:sp>
      <p:sp>
        <p:nvSpPr>
          <p:cNvPr id="12" name="Shape 10"/>
          <p:cNvSpPr/>
          <p:nvPr/>
        </p:nvSpPr>
        <p:spPr>
          <a:xfrm>
            <a:off x="815975" y="3686671"/>
            <a:ext cx="5175250" cy="1342975"/>
          </a:xfrm>
          <a:prstGeom prst="roundRect">
            <a:avLst>
              <a:gd name="adj" fmla="val 7329"/>
            </a:avLst>
          </a:prstGeom>
          <a:solidFill>
            <a:srgbClr val="FFFEFB"/>
          </a:solidFill>
          <a:ln w="6350">
            <a:solidFill>
              <a:srgbClr val="D9DEE7"/>
            </a:solidFill>
            <a:prstDash val="solid"/>
          </a:ln>
        </p:spPr>
        <p:txBody>
          <a:bodyPr/>
          <a:p/>
        </p:txBody>
      </p:sp>
      <p:sp>
        <p:nvSpPr>
          <p:cNvPr id="13" name="Text 11"/>
          <p:cNvSpPr/>
          <p:nvPr/>
        </p:nvSpPr>
        <p:spPr>
          <a:xfrm>
            <a:off x="1073150" y="3943846"/>
            <a:ext cx="208707"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3</a:t>
            </a:r>
            <a:endParaRPr lang="en-US" sz="2200" dirty="0"/>
          </a:p>
        </p:txBody>
      </p:sp>
      <p:sp>
        <p:nvSpPr>
          <p:cNvPr id="14" name="Text 12"/>
          <p:cNvSpPr/>
          <p:nvPr/>
        </p:nvSpPr>
        <p:spPr>
          <a:xfrm>
            <a:off x="1358057" y="4010521"/>
            <a:ext cx="32009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Follows the rules by design</a:t>
            </a:r>
            <a:endParaRPr lang="en-US" sz="1600" dirty="0"/>
          </a:p>
        </p:txBody>
      </p:sp>
      <p:sp>
        <p:nvSpPr>
          <p:cNvPr id="15" name="Text 13"/>
          <p:cNvSpPr/>
          <p:nvPr/>
        </p:nvSpPr>
        <p:spPr>
          <a:xfrm>
            <a:off x="1073150" y="4330551"/>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The 2026 RBI rules are written into the code, not left to the AI. Every message is timed and logged.</a:t>
            </a:r>
            <a:endParaRPr lang="en-US" sz="1200" dirty="0"/>
          </a:p>
        </p:txBody>
      </p:sp>
      <p:sp>
        <p:nvSpPr>
          <p:cNvPr id="16" name="Shape 14"/>
          <p:cNvSpPr/>
          <p:nvPr/>
        </p:nvSpPr>
        <p:spPr>
          <a:xfrm>
            <a:off x="6200775" y="3686671"/>
            <a:ext cx="5175250" cy="1342975"/>
          </a:xfrm>
          <a:prstGeom prst="roundRect">
            <a:avLst>
              <a:gd name="adj" fmla="val 7329"/>
            </a:avLst>
          </a:prstGeom>
          <a:solidFill>
            <a:srgbClr val="FFFEFB"/>
          </a:solidFill>
          <a:ln w="6350">
            <a:solidFill>
              <a:srgbClr val="D9DEE7"/>
            </a:solidFill>
            <a:prstDash val="solid"/>
          </a:ln>
        </p:spPr>
        <p:txBody>
          <a:bodyPr/>
          <a:p/>
        </p:txBody>
      </p:sp>
      <p:sp>
        <p:nvSpPr>
          <p:cNvPr id="17" name="Text 15"/>
          <p:cNvSpPr/>
          <p:nvPr/>
        </p:nvSpPr>
        <p:spPr>
          <a:xfrm>
            <a:off x="6457950" y="3943846"/>
            <a:ext cx="226467"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94560A"/>
                </a:solidFill>
                <a:latin typeface="Fraunces" pitchFamily="18" charset="0"/>
                <a:ea typeface="Fraunces" pitchFamily="18" charset="-122"/>
                <a:cs typeface="Fraunces" pitchFamily="18" charset="-120"/>
              </a:rPr>
              <a:t>4</a:t>
            </a:r>
            <a:endParaRPr lang="en-US" sz="2200" dirty="0"/>
          </a:p>
        </p:txBody>
      </p:sp>
      <p:sp>
        <p:nvSpPr>
          <p:cNvPr id="18" name="Text 16"/>
          <p:cNvSpPr/>
          <p:nvPr/>
        </p:nvSpPr>
        <p:spPr>
          <a:xfrm>
            <a:off x="6760617" y="4010521"/>
            <a:ext cx="23186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Proof, not promises</a:t>
            </a:r>
            <a:endParaRPr lang="en-US" sz="1600" dirty="0"/>
          </a:p>
        </p:txBody>
      </p:sp>
      <p:sp>
        <p:nvSpPr>
          <p:cNvPr id="19" name="Text 17"/>
          <p:cNvSpPr/>
          <p:nvPr/>
        </p:nvSpPr>
        <p:spPr>
          <a:xfrm>
            <a:off x="6457950" y="4330551"/>
            <a:ext cx="480072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Results are compared with similar merchants who didn’t get Sambhal, and 40 test cases must pass before every release.</a:t>
            </a:r>
            <a:endParaRPr lang="en-US" sz="1200" dirty="0"/>
          </a:p>
        </p:txBody>
      </p:sp>
      <p:sp>
        <p:nvSpPr>
          <p:cNvPr id="20" name="Text 18"/>
          <p:cNvSpPr/>
          <p:nvPr/>
        </p:nvSpPr>
        <p:spPr>
          <a:xfrm>
            <a:off x="812800" y="5312221"/>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3"/>
                </a:solidFill>
                <a:latin typeface="Fraunces" pitchFamily="18" charset="0"/>
                <a:ea typeface="Fraunces" pitchFamily="18" charset="-122"/>
                <a:cs typeface="Fraunces" pitchFamily="18" charset="-120"/>
              </a:rPr>
              <a:t>A score says who is at risk. </a:t>
            </a:r>
            <a:r>
              <a:rPr lang="en-US" sz="2200" b="1" dirty="0">
                <a:solidFill>
                  <a:srgbClr val="94560A"/>
                </a:solidFill>
                <a:latin typeface="Fraunces" pitchFamily="18" charset="0"/>
                <a:ea typeface="Fraunces" pitchFamily="18" charset="-122"/>
                <a:cs typeface="Fraunces" pitchFamily="18" charset="-120"/>
              </a:rPr>
              <a:t>Sambhal changes what happens next.</a:t>
            </a:r>
            <a:endParaRPr lang="en-US" sz="2200" dirty="0"/>
          </a:p>
        </p:txBody>
      </p:sp>
      <p:sp>
        <p:nvSpPr>
          <p:cNvPr id="21" name="Text 1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Merchant count: Paytm, Q2 FY27 (merchants on subscription).</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IMPACT &amp; BENEFITS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Better for merchants, lenders and Paytm</a:t>
            </a:r>
            <a:endParaRPr lang="en-US" sz="3600" dirty="0"/>
          </a:p>
        </p:txBody>
      </p:sp>
      <p:sp>
        <p:nvSpPr>
          <p:cNvPr id="4" name="Shape 2"/>
          <p:cNvSpPr/>
          <p:nvPr/>
        </p:nvSpPr>
        <p:spPr>
          <a:xfrm>
            <a:off x="815975" y="1913186"/>
            <a:ext cx="3380284" cy="2431901"/>
          </a:xfrm>
          <a:prstGeom prst="roundRect">
            <a:avLst>
              <a:gd name="adj" fmla="val 4047"/>
            </a:avLst>
          </a:prstGeom>
          <a:solidFill>
            <a:srgbClr val="FFFEFB"/>
          </a:solidFill>
          <a:ln w="6350">
            <a:solidFill>
              <a:srgbClr val="E2DED4"/>
            </a:solidFill>
            <a:prstDash val="solid"/>
          </a:ln>
        </p:spPr>
        <p:txBody>
          <a:bodyPr/>
          <a:p/>
        </p:txBody>
      </p:sp>
      <p:pic>
        <p:nvPicPr>
          <p:cNvPr id="5" name="Image 0" descr="Home">    </p:cNvPr>
          <p:cNvPicPr>
            <a:picLocks noChangeAspect="1"/>
          </p:cNvPicPr>
          <p:nvPr/>
        </p:nvPicPr>
        <p:blipFill>
          <a:blip r:embed="rId1"/>
          <a:srcRect l="0" r="0" t="0" b="0"/>
          <a:stretch/>
        </p:blipFill>
        <p:spPr>
          <a:xfrm>
            <a:off x="1073150" y="2177951"/>
            <a:ext cx="228600" cy="228600"/>
          </a:xfrm>
          <a:prstGeom prst="rect">
            <a:avLst/>
          </a:prstGeom>
        </p:spPr>
      </p:pic>
      <p:sp>
        <p:nvSpPr>
          <p:cNvPr id="6" name="Text 3"/>
          <p:cNvSpPr/>
          <p:nvPr/>
        </p:nvSpPr>
        <p:spPr>
          <a:xfrm>
            <a:off x="1403350" y="2170361"/>
            <a:ext cx="115841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Merchant</a:t>
            </a:r>
            <a:endParaRPr lang="en-US" sz="1600" dirty="0"/>
          </a:p>
        </p:txBody>
      </p:sp>
      <p:sp>
        <p:nvSpPr>
          <p:cNvPr id="7" name="Text 4"/>
          <p:cNvSpPr/>
          <p:nvPr/>
        </p:nvSpPr>
        <p:spPr>
          <a:xfrm>
            <a:off x="1171956" y="2541191"/>
            <a:ext cx="2845486" cy="157212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No backlog swept or left overdue on reopening day: 17% of the day’s sales, not 57%, in our model</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Terms and options explained by voice, in their own language</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No calls at night, at a wedding or in grief</a:t>
            </a:r>
            <a:endParaRPr lang="en-US" sz="1200" dirty="0"/>
          </a:p>
        </p:txBody>
      </p:sp>
      <p:sp>
        <p:nvSpPr>
          <p:cNvPr id="8" name="Shape 5"/>
          <p:cNvSpPr/>
          <p:nvPr/>
        </p:nvSpPr>
        <p:spPr>
          <a:xfrm>
            <a:off x="4405809" y="1913186"/>
            <a:ext cx="3380333" cy="2431901"/>
          </a:xfrm>
          <a:prstGeom prst="roundRect">
            <a:avLst>
              <a:gd name="adj" fmla="val 4047"/>
            </a:avLst>
          </a:prstGeom>
          <a:solidFill>
            <a:srgbClr val="FFFEFB"/>
          </a:solidFill>
          <a:ln w="6350">
            <a:solidFill>
              <a:srgbClr val="E2DED4"/>
            </a:solidFill>
            <a:prstDash val="solid"/>
          </a:ln>
        </p:spPr>
        <p:txBody>
          <a:bodyPr/>
          <a:p/>
        </p:txBody>
      </p:sp>
      <p:pic>
        <p:nvPicPr>
          <p:cNvPr id="9" name="Image 1" descr="Lock">    </p:cNvPr>
          <p:cNvPicPr>
            <a:picLocks noChangeAspect="1"/>
          </p:cNvPicPr>
          <p:nvPr/>
        </p:nvPicPr>
        <p:blipFill>
          <a:blip r:embed="rId2"/>
          <a:srcRect l="0" r="0" t="0" b="0"/>
          <a:stretch/>
        </p:blipFill>
        <p:spPr>
          <a:xfrm>
            <a:off x="4662984" y="2177951"/>
            <a:ext cx="228600" cy="228600"/>
          </a:xfrm>
          <a:prstGeom prst="rect">
            <a:avLst/>
          </a:prstGeom>
        </p:spPr>
      </p:pic>
      <p:sp>
        <p:nvSpPr>
          <p:cNvPr id="10" name="Text 6"/>
          <p:cNvSpPr/>
          <p:nvPr/>
        </p:nvSpPr>
        <p:spPr>
          <a:xfrm>
            <a:off x="4993184" y="2170361"/>
            <a:ext cx="191273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Lending partner</a:t>
            </a:r>
            <a:endParaRPr lang="en-US" sz="1600" dirty="0"/>
          </a:p>
        </p:txBody>
      </p:sp>
      <p:sp>
        <p:nvSpPr>
          <p:cNvPr id="11" name="Text 7"/>
          <p:cNvSpPr/>
          <p:nvPr/>
        </p:nvSpPr>
        <p:spPr>
          <a:xfrm>
            <a:off x="4761790" y="2541191"/>
            <a:ext cx="2845537" cy="157212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Steps in at Bucket 1, where 83–90% of cases resolve</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Audit-ready for the 1 January 2027 rules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AI conversations handle early cases before tele-calling starts</a:t>
            </a:r>
            <a:endParaRPr lang="en-US" sz="1200" dirty="0"/>
          </a:p>
        </p:txBody>
      </p:sp>
      <p:sp>
        <p:nvSpPr>
          <p:cNvPr id="12" name="Shape 8"/>
          <p:cNvSpPr/>
          <p:nvPr/>
        </p:nvSpPr>
        <p:spPr>
          <a:xfrm>
            <a:off x="7995692" y="1913186"/>
            <a:ext cx="3380333" cy="2431901"/>
          </a:xfrm>
          <a:prstGeom prst="roundRect">
            <a:avLst>
              <a:gd name="adj" fmla="val 4047"/>
            </a:avLst>
          </a:prstGeom>
          <a:solidFill>
            <a:srgbClr val="FFFEFB"/>
          </a:solidFill>
          <a:ln w="6350">
            <a:solidFill>
              <a:srgbClr val="E2DED4"/>
            </a:solidFill>
            <a:prstDash val="solid"/>
          </a:ln>
        </p:spPr>
        <p:txBody>
          <a:bodyPr/>
          <a:p/>
        </p:txBody>
      </p:sp>
      <p:pic>
        <p:nvPicPr>
          <p:cNvPr id="13" name="Image 2" descr="Lightning">    </p:cNvPr>
          <p:cNvPicPr>
            <a:picLocks noChangeAspect="1"/>
          </p:cNvPicPr>
          <p:nvPr/>
        </p:nvPicPr>
        <p:blipFill>
          <a:blip r:embed="rId3"/>
          <a:srcRect l="0" r="0" t="0" b="0"/>
          <a:stretch/>
        </p:blipFill>
        <p:spPr>
          <a:xfrm>
            <a:off x="8252867" y="2177951"/>
            <a:ext cx="228600" cy="228600"/>
          </a:xfrm>
          <a:prstGeom prst="rect">
            <a:avLst/>
          </a:prstGeom>
        </p:spPr>
      </p:pic>
      <p:sp>
        <p:nvSpPr>
          <p:cNvPr id="14" name="Text 9"/>
          <p:cNvSpPr/>
          <p:nvPr/>
        </p:nvSpPr>
        <p:spPr>
          <a:xfrm>
            <a:off x="8583067" y="2170361"/>
            <a:ext cx="76241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Paytm</a:t>
            </a:r>
            <a:endParaRPr lang="en-US" sz="1600" dirty="0"/>
          </a:p>
        </p:txBody>
      </p:sp>
      <p:sp>
        <p:nvSpPr>
          <p:cNvPr id="15" name="Text 10"/>
          <p:cNvSpPr/>
          <p:nvPr/>
        </p:nvSpPr>
        <p:spPr>
          <a:xfrm>
            <a:off x="8351673" y="2541191"/>
            <a:ext cx="2845537" cy="157212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Better collection performance in its role as collection partner</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On-track merchants borrow again; repeat borrowers already get over half of disbursements</a:t>
            </a:r>
            <a:endParaRPr lang="en-US" sz="1200" dirty="0"/>
          </a:p>
          <a:p>
            <a:pPr algn="l" marL="155194" indent="-155194">
              <a:lnSpc>
                <a:spcPts val="1740"/>
              </a:lnSpc>
              <a:buSzPct val="100000"/>
              <a:buChar char="•"/>
            </a:pPr>
            <a:r>
              <a:rPr lang="en-US" sz="1200" dirty="0">
                <a:solidFill>
                  <a:srgbClr val="44506A"/>
                </a:solidFill>
                <a:latin typeface="DM Sans" pitchFamily="34" charset="0"/>
                <a:ea typeface="DM Sans" pitchFamily="34" charset="-122"/>
                <a:cs typeface="DM Sans" pitchFamily="34" charset="-120"/>
              </a:rPr>
              <a:t>A ready Pi module to sell to other lenders</a:t>
            </a:r>
            <a:endParaRPr lang="en-US" sz="1200" dirty="0"/>
          </a:p>
        </p:txBody>
      </p:sp>
      <p:sp>
        <p:nvSpPr>
          <p:cNvPr id="16" name="Shape 11"/>
          <p:cNvSpPr/>
          <p:nvPr/>
        </p:nvSpPr>
        <p:spPr>
          <a:xfrm>
            <a:off x="812800" y="4627662"/>
            <a:ext cx="10566400" cy="746720"/>
          </a:xfrm>
          <a:prstGeom prst="roundRect">
            <a:avLst>
              <a:gd name="adj" fmla="val 13606"/>
            </a:avLst>
          </a:prstGeom>
          <a:solidFill>
            <a:srgbClr val="0E1B33"/>
          </a:solidFill>
          <a:ln/>
        </p:spPr>
        <p:txBody>
          <a:bodyPr/>
          <a:p/>
        </p:txBody>
      </p:sp>
      <p:sp>
        <p:nvSpPr>
          <p:cNvPr id="17" name="Text 12"/>
          <p:cNvSpPr/>
          <p:nvPr/>
        </p:nvSpPr>
        <p:spPr>
          <a:xfrm>
            <a:off x="1066800" y="4894362"/>
            <a:ext cx="1475978"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2A93B"/>
                </a:solidFill>
                <a:latin typeface="DM Sans" pitchFamily="34" charset="0"/>
                <a:ea typeface="DM Sans" pitchFamily="34" charset="-122"/>
                <a:cs typeface="DM Sans" pitchFamily="34" charset="-120"/>
              </a:rPr>
              <a:t>PILOT SCORECARD</a:t>
            </a:r>
            <a:endParaRPr lang="en-US" sz="1200" dirty="0"/>
          </a:p>
        </p:txBody>
      </p:sp>
      <p:sp>
        <p:nvSpPr>
          <p:cNvPr id="18" name="Text 13"/>
          <p:cNvSpPr/>
          <p:nvPr/>
        </p:nvSpPr>
        <p:spPr>
          <a:xfrm>
            <a:off x="2834640" y="4780062"/>
            <a:ext cx="854049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Compared with merchants who don’t get Sambhal: how many fall behind · cost per case fixed · complaints · rule breaks (target: zero)</a:t>
            </a:r>
            <a:endParaRPr lang="en-US" sz="1200" dirty="0"/>
          </a:p>
        </p:txBody>
      </p:sp>
      <p:sp>
        <p:nvSpPr>
          <p:cNvPr id="19"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Bucket-1 resolution: Paytm Q2 FY27 release p.15. Repeat borrowers: Paytm Q1 FY27 earnings release. Demo figures are synthetic.</a:t>
            </a:r>
            <a:endParaRPr lang="en-US" sz="1200" dirty="0"/>
          </a:p>
        </p:txBody>
      </p:sp>
      <p:sp>
        <p:nvSpPr>
          <p:cNvPr id="20"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C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4560A"/>
                </a:solidFill>
                <a:latin typeface="DM Sans" pitchFamily="34" charset="0"/>
                <a:ea typeface="DM Sans" pitchFamily="34" charset="-122"/>
                <a:cs typeface="DM Sans" pitchFamily="34" charset="-120"/>
              </a:rPr>
              <a:t>BUSINESS MODEL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3"/>
                </a:solidFill>
                <a:latin typeface="Fraunces" pitchFamily="18" charset="0"/>
                <a:ea typeface="Fraunces" pitchFamily="18" charset="-122"/>
                <a:cs typeface="Fraunces" pitchFamily="18" charset="-120"/>
              </a:rPr>
              <a:t>Lenders pay; merchants never do</a:t>
            </a:r>
            <a:endParaRPr lang="en-US" sz="3600" dirty="0"/>
          </a:p>
        </p:txBody>
      </p:sp>
      <p:sp>
        <p:nvSpPr>
          <p:cNvPr id="4" name="Shape 2"/>
          <p:cNvSpPr/>
          <p:nvPr/>
        </p:nvSpPr>
        <p:spPr>
          <a:xfrm>
            <a:off x="815975" y="1913186"/>
            <a:ext cx="5906790" cy="1149300"/>
          </a:xfrm>
          <a:prstGeom prst="roundRect">
            <a:avLst>
              <a:gd name="adj" fmla="val 8564"/>
            </a:avLst>
          </a:prstGeom>
          <a:solidFill>
            <a:srgbClr val="FFFEFB"/>
          </a:solidFill>
          <a:ln w="6350">
            <a:solidFill>
              <a:srgbClr val="D9DEE7"/>
            </a:solidFill>
            <a:prstDash val="solid"/>
          </a:ln>
        </p:spPr>
        <p:txBody>
          <a:bodyPr/>
          <a:p/>
        </p:txBody>
      </p:sp>
      <p:sp>
        <p:nvSpPr>
          <p:cNvPr id="5" name="Text 3"/>
          <p:cNvSpPr/>
          <p:nvPr/>
        </p:nvSpPr>
        <p:spPr>
          <a:xfrm>
            <a:off x="1073150" y="2119561"/>
            <a:ext cx="555421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Paytm’s own lending partners</a:t>
            </a:r>
            <a:endParaRPr lang="en-US" sz="1600" dirty="0"/>
          </a:p>
        </p:txBody>
      </p:sp>
      <p:sp>
        <p:nvSpPr>
          <p:cNvPr id="6" name="Text 4"/>
          <p:cNvSpPr/>
          <p:nvPr/>
        </p:nvSpPr>
        <p:spPr>
          <a:xfrm>
            <a:off x="1073150" y="2414191"/>
            <a:ext cx="55542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Bundled into Paytm’s role as collection partner. Paytm earns through better resolution on loans it already distributes.</a:t>
            </a:r>
            <a:endParaRPr lang="en-US" sz="1200" dirty="0"/>
          </a:p>
        </p:txBody>
      </p:sp>
      <p:sp>
        <p:nvSpPr>
          <p:cNvPr id="7" name="Shape 5"/>
          <p:cNvSpPr/>
          <p:nvPr/>
        </p:nvSpPr>
        <p:spPr>
          <a:xfrm>
            <a:off x="815975" y="3195836"/>
            <a:ext cx="5906790" cy="1149300"/>
          </a:xfrm>
          <a:prstGeom prst="roundRect">
            <a:avLst>
              <a:gd name="adj" fmla="val 8564"/>
            </a:avLst>
          </a:prstGeom>
          <a:solidFill>
            <a:srgbClr val="FFFEFB"/>
          </a:solidFill>
          <a:ln w="6350">
            <a:solidFill>
              <a:srgbClr val="D9DEE7"/>
            </a:solidFill>
            <a:prstDash val="solid"/>
          </a:ln>
        </p:spPr>
        <p:txBody>
          <a:bodyPr/>
          <a:p/>
        </p:txBody>
      </p:sp>
      <p:sp>
        <p:nvSpPr>
          <p:cNvPr id="8" name="Text 6"/>
          <p:cNvSpPr/>
          <p:nvPr/>
        </p:nvSpPr>
        <p:spPr>
          <a:xfrm>
            <a:off x="1073150" y="3402211"/>
            <a:ext cx="555421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Banks and NBFCs, via Pi</a:t>
            </a:r>
            <a:endParaRPr lang="en-US" sz="1600" dirty="0"/>
          </a:p>
        </p:txBody>
      </p:sp>
      <p:sp>
        <p:nvSpPr>
          <p:cNvPr id="9" name="Text 7"/>
          <p:cNvSpPr/>
          <p:nvPr/>
        </p:nvSpPr>
        <p:spPr>
          <a:xfrm>
            <a:off x="1073150" y="3696841"/>
            <a:ext cx="55542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A licence per active loan per month, plus an outcome fee for each account that gets back on track.</a:t>
            </a:r>
            <a:endParaRPr lang="en-US" sz="1200" dirty="0"/>
          </a:p>
        </p:txBody>
      </p:sp>
      <p:sp>
        <p:nvSpPr>
          <p:cNvPr id="10" name="Shape 8"/>
          <p:cNvSpPr/>
          <p:nvPr/>
        </p:nvSpPr>
        <p:spPr>
          <a:xfrm>
            <a:off x="815975" y="4478486"/>
            <a:ext cx="5906790" cy="1149300"/>
          </a:xfrm>
          <a:prstGeom prst="roundRect">
            <a:avLst>
              <a:gd name="adj" fmla="val 8564"/>
            </a:avLst>
          </a:prstGeom>
          <a:solidFill>
            <a:srgbClr val="FFFEFB"/>
          </a:solidFill>
          <a:ln w="6350">
            <a:solidFill>
              <a:srgbClr val="D9DEE7"/>
            </a:solidFill>
            <a:prstDash val="solid"/>
          </a:ln>
        </p:spPr>
        <p:txBody>
          <a:bodyPr/>
          <a:p/>
        </p:txBody>
      </p:sp>
      <p:sp>
        <p:nvSpPr>
          <p:cNvPr id="11" name="Text 9"/>
          <p:cNvSpPr/>
          <p:nvPr/>
        </p:nvSpPr>
        <p:spPr>
          <a:xfrm>
            <a:off x="1073150" y="4684861"/>
            <a:ext cx="555421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3"/>
                </a:solidFill>
                <a:latin typeface="DM Sans" pitchFamily="34" charset="0"/>
                <a:ea typeface="DM Sans" pitchFamily="34" charset="-122"/>
                <a:cs typeface="DM Sans" pitchFamily="34" charset="-120"/>
              </a:rPr>
              <a:t>Compliance pack</a:t>
            </a:r>
            <a:endParaRPr lang="en-US" sz="1600" dirty="0"/>
          </a:p>
        </p:txBody>
      </p:sp>
      <p:sp>
        <p:nvSpPr>
          <p:cNvPr id="12" name="Text 10"/>
          <p:cNvSpPr/>
          <p:nvPr/>
        </p:nvSpPr>
        <p:spPr>
          <a:xfrm>
            <a:off x="1073150" y="4979491"/>
            <a:ext cx="55542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4506A"/>
                </a:solidFill>
                <a:latin typeface="DM Sans" pitchFamily="34" charset="0"/>
                <a:ea typeface="DM Sans" pitchFamily="34" charset="-122"/>
                <a:cs typeface="DM Sans" pitchFamily="34" charset="-120"/>
              </a:rPr>
              <a:t>The record RBI/2026-27/230 asks for: how the lender engaged a distressed borrower and which options it explained, before escalating.</a:t>
            </a:r>
            <a:endParaRPr lang="en-US" sz="1200" dirty="0"/>
          </a:p>
        </p:txBody>
      </p:sp>
      <p:sp>
        <p:nvSpPr>
          <p:cNvPr id="13" name="Shape 11"/>
          <p:cNvSpPr/>
          <p:nvPr/>
        </p:nvSpPr>
        <p:spPr>
          <a:xfrm>
            <a:off x="6929140" y="1910011"/>
            <a:ext cx="4450060" cy="3720951"/>
          </a:xfrm>
          <a:prstGeom prst="roundRect">
            <a:avLst>
              <a:gd name="adj" fmla="val 2730"/>
            </a:avLst>
          </a:prstGeom>
          <a:solidFill>
            <a:srgbClr val="0E1B33"/>
          </a:solidFill>
          <a:ln/>
        </p:spPr>
        <p:txBody>
          <a:bodyPr/>
          <a:p/>
        </p:txBody>
      </p:sp>
      <p:sp>
        <p:nvSpPr>
          <p:cNvPr id="14" name="Text 12"/>
          <p:cNvSpPr/>
          <p:nvPr/>
        </p:nvSpPr>
        <p:spPr>
          <a:xfrm>
            <a:off x="7183140" y="2164011"/>
            <a:ext cx="40603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93B"/>
                </a:solidFill>
                <a:latin typeface="DM Sans" pitchFamily="34" charset="0"/>
                <a:ea typeface="DM Sans" pitchFamily="34" charset="-122"/>
                <a:cs typeface="DM Sans" pitchFamily="34" charset="-120"/>
              </a:rPr>
              <a:t>PATH TO SCALE</a:t>
            </a:r>
            <a:endParaRPr lang="en-US" sz="1200" dirty="0"/>
          </a:p>
        </p:txBody>
      </p:sp>
      <p:sp>
        <p:nvSpPr>
          <p:cNvPr id="15" name="Text 13"/>
          <p:cNvSpPr/>
          <p:nvPr/>
        </p:nvSpPr>
        <p:spPr>
          <a:xfrm>
            <a:off x="7276306" y="2529731"/>
            <a:ext cx="3959536" cy="1130201"/>
          </a:xfrm>
          <a:prstGeom prst="rect">
            <a:avLst/>
          </a:prstGeom>
          <a:noFill/>
          <a:ln/>
        </p:spPr>
        <p:txBody>
          <a:bodyPr wrap="square" lIns="0" tIns="0" rIns="0" bIns="0" rtlCol="0" anchor="t">
            <a:normAutofit/>
          </a:bodyPr>
          <a:lstStyle/>
          <a:p>
            <a:pPr algn="l" marL="160834" indent="-160834">
              <a:lnSpc>
                <a:spcPts val="1740"/>
              </a:lnSpc>
              <a:buSzPct val="100000"/>
              <a:buFontTx/>
              <a:buAutoNum type="arabicPeriod" startAt="1"/>
            </a:pPr>
            <a:r>
              <a:rPr lang="en-US" sz="1200" dirty="0">
                <a:solidFill>
                  <a:srgbClr val="F7F5F0"/>
                </a:solidFill>
                <a:latin typeface="DM Sans" pitchFamily="34" charset="0"/>
                <a:ea typeface="DM Sans" pitchFamily="34" charset="-122"/>
                <a:cs typeface="DM Sans" pitchFamily="34" charset="-120"/>
              </a:rPr>
              <a:t>Pilot: one city, one lending partner, a comparison group, eight weeks</a:t>
            </a:r>
            <a:endParaRPr lang="en-US" sz="1200" dirty="0"/>
          </a:p>
          <a:p>
            <a:pPr algn="l" marL="160834" indent="-160834">
              <a:lnSpc>
                <a:spcPts val="1740"/>
              </a:lnSpc>
              <a:buSzPct val="100000"/>
              <a:buFontTx/>
              <a:buAutoNum type="arabicPeriod" startAt="1"/>
            </a:pPr>
            <a:r>
              <a:rPr lang="en-US" sz="1200" dirty="0">
                <a:solidFill>
                  <a:srgbClr val="F7F5F0"/>
                </a:solidFill>
                <a:latin typeface="DM Sans" pitchFamily="34" charset="0"/>
                <a:ea typeface="DM Sans" pitchFamily="34" charset="-122"/>
                <a:cs typeface="DM Sans" pitchFamily="34" charset="-120"/>
              </a:rPr>
              <a:t>Roll out across Paytm merchant loans</a:t>
            </a:r>
            <a:endParaRPr lang="en-US" sz="1200" dirty="0"/>
          </a:p>
          <a:p>
            <a:pPr algn="l" marL="160834" indent="-160834">
              <a:lnSpc>
                <a:spcPts val="1740"/>
              </a:lnSpc>
              <a:buSzPct val="100000"/>
              <a:buFontTx/>
              <a:buAutoNum type="arabicPeriod" startAt="1"/>
            </a:pPr>
            <a:r>
              <a:rPr lang="en-US" sz="1200" dirty="0">
                <a:solidFill>
                  <a:srgbClr val="F7F5F0"/>
                </a:solidFill>
                <a:latin typeface="DM Sans" pitchFamily="34" charset="0"/>
                <a:ea typeface="DM Sans" pitchFamily="34" charset="-122"/>
                <a:cs typeface="DM Sans" pitchFamily="34" charset="-120"/>
              </a:rPr>
              <a:t>Offer through Pi to outside lenders, then extend to Postpaid and personal loans</a:t>
            </a:r>
            <a:endParaRPr lang="en-US" sz="1200" dirty="0"/>
          </a:p>
        </p:txBody>
      </p:sp>
      <p:pic>
        <p:nvPicPr>
          <p:cNvPr id="16" name="Image 0" descr="line">    </p:cNvPr>
          <p:cNvPicPr>
            <a:picLocks noChangeAspect="1"/>
          </p:cNvPicPr>
          <p:nvPr/>
        </p:nvPicPr>
        <p:blipFill>
          <a:blip r:embed="rId1"/>
          <a:srcRect l="0" r="0" t="-16" b="-16"/>
          <a:stretch/>
        </p:blipFill>
        <p:spPr>
          <a:xfrm>
            <a:off x="7183140" y="3786932"/>
            <a:ext cx="3942060" cy="6350"/>
          </a:xfrm>
          <a:prstGeom prst="rect">
            <a:avLst/>
          </a:prstGeom>
        </p:spPr>
      </p:pic>
      <p:sp>
        <p:nvSpPr>
          <p:cNvPr id="17" name="Text 14"/>
          <p:cNvSpPr/>
          <p:nvPr/>
        </p:nvSpPr>
        <p:spPr>
          <a:xfrm>
            <a:off x="7183140" y="3945682"/>
            <a:ext cx="40603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Each case costs an AI conversation, not a field visit. We earn more only when merchants recover.</a:t>
            </a:r>
            <a:endParaRPr lang="en-US" sz="1200" dirty="0"/>
          </a:p>
        </p:txBody>
      </p:sp>
      <p:sp>
        <p:nvSpPr>
          <p:cNvPr id="17" name="Text 14"/>
          <p:cNvSpPr/>
          <p:nvPr/>
        </p:nvSpPr>
        <p:spPr>
          <a:xfrm>
            <a:off x="7183140" y="4526280"/>
            <a:ext cx="4060322" cy="6858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Paytm has approved up to ₹590 Cr of first-loss guarantees (DLG) for five lenders in FY27: loans that stay on track matter to Paytm directly.</a:t>
            </a:r>
            <a:endParaRPr lang="en-US" sz="1200" dirty="0"/>
          </a:p>
        </p:txBody>
      </p:sp>
      <p:sp>
        <p:nvSpPr>
          <p:cNvPr id="18" name="Text 1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79"/>
                </a:solidFill>
                <a:latin typeface="DM Sans" pitchFamily="34" charset="0"/>
                <a:ea typeface="DM Sans" pitchFamily="34" charset="-122"/>
                <a:cs typeface="DM Sans" pitchFamily="34" charset="-120"/>
              </a:rPr>
              <a:t>DLG approvals: Paytm filing, 26 Oct 2026, Annexure III.</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79"/>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93B"/>
                </a:solidFill>
                <a:latin typeface="DM Sans" pitchFamily="34" charset="0"/>
                <a:ea typeface="DM Sans" pitchFamily="34" charset="-122"/>
                <a:cs typeface="DM Sans" pitchFamily="34" charset="-120"/>
              </a:rPr>
              <a:t>BUILT, TESTED, RUNNING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Fraunces" pitchFamily="18" charset="0"/>
                <a:ea typeface="Fraunces" pitchFamily="18" charset="-122"/>
                <a:cs typeface="Fraunces" pitchFamily="18" charset="-120"/>
              </a:rPr>
              <a:t>What you just saw is working</a:t>
            </a:r>
            <a:endParaRPr lang="en-US" sz="3600" dirty="0"/>
          </a:p>
        </p:txBody>
      </p:sp>
      <p:pic>
        <p:nvPicPr>
          <p:cNvPr id="4" name="Image 0" descr="Check">    </p:cNvPr>
          <p:cNvPicPr>
            <a:picLocks noChangeAspect="1"/>
          </p:cNvPicPr>
          <p:nvPr/>
        </p:nvPicPr>
        <p:blipFill>
          <a:blip r:embed="rId1"/>
          <a:srcRect l="0" r="0" t="-23" b="-23"/>
          <a:stretch/>
        </p:blipFill>
        <p:spPr>
          <a:xfrm>
            <a:off x="812800" y="1911095"/>
            <a:ext cx="215801" cy="228600"/>
          </a:xfrm>
          <a:prstGeom prst="rect">
            <a:avLst/>
          </a:prstGeom>
        </p:spPr>
      </p:pic>
      <p:sp>
        <p:nvSpPr>
          <p:cNvPr id="5" name="Text 2"/>
          <p:cNvSpPr/>
          <p:nvPr/>
        </p:nvSpPr>
        <p:spPr>
          <a:xfrm>
            <a:off x="1155601" y="1911095"/>
            <a:ext cx="5715000" cy="274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50 synthetic merchants, 5½ months of daily settlements: Ravi’s week and 49 others</a:t>
            </a:r>
            <a:endParaRPr lang="en-US" sz="1200" dirty="0"/>
          </a:p>
        </p:txBody>
      </p:sp>
      <p:pic>
        <p:nvPicPr>
          <p:cNvPr id="6" name="Image 1" descr="Check">    </p:cNvPr>
          <p:cNvPicPr>
            <a:picLocks noChangeAspect="1"/>
          </p:cNvPicPr>
          <p:nvPr/>
        </p:nvPicPr>
        <p:blipFill>
          <a:blip r:embed="rId2"/>
          <a:srcRect l="0" r="0" t="0" b="0"/>
          <a:stretch/>
        </p:blipFill>
        <p:spPr>
          <a:xfrm>
            <a:off x="812800" y="2340863"/>
            <a:ext cx="228600" cy="228600"/>
          </a:xfrm>
          <a:prstGeom prst="rect">
            <a:avLst/>
          </a:prstGeom>
        </p:spPr>
      </p:pic>
      <p:sp>
        <p:nvSpPr>
          <p:cNvPr id="7" name="Text 3"/>
          <p:cNvSpPr/>
          <p:nvPr/>
        </p:nvSpPr>
        <p:spPr>
          <a:xfrm>
            <a:off x="1168400" y="2340863"/>
            <a:ext cx="5715000" cy="274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Kannada, Hindi and English by voice with Sarvam, tested live; runs offline too</a:t>
            </a:r>
            <a:endParaRPr lang="en-US" sz="1200" dirty="0"/>
          </a:p>
        </p:txBody>
      </p:sp>
      <p:pic>
        <p:nvPicPr>
          <p:cNvPr id="8" name="Image 2" descr="Check">    </p:cNvPr>
          <p:cNvPicPr>
            <a:picLocks noChangeAspect="1"/>
          </p:cNvPicPr>
          <p:nvPr/>
        </p:nvPicPr>
        <p:blipFill>
          <a:blip r:embed="rId3"/>
          <a:srcRect l="0" r="0" t="0" b="0"/>
          <a:stretch/>
        </p:blipFill>
        <p:spPr>
          <a:xfrm>
            <a:off x="812800" y="2770632"/>
            <a:ext cx="228600" cy="228600"/>
          </a:xfrm>
          <a:prstGeom prst="rect">
            <a:avLst/>
          </a:prstGeom>
        </p:spPr>
      </p:pic>
      <p:sp>
        <p:nvSpPr>
          <p:cNvPr id="9" name="Text 4"/>
          <p:cNvSpPr/>
          <p:nvPr/>
        </p:nvSpPr>
        <p:spPr>
          <a:xfrm>
            <a:off x="1168400" y="2770632"/>
            <a:ext cx="5715000" cy="274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A merchant app: voice notes, one-tap reasons, tell us first, pay-ahead</a:t>
            </a:r>
            <a:endParaRPr lang="en-US" sz="1200" dirty="0"/>
          </a:p>
        </p:txBody>
      </p:sp>
      <p:pic>
        <p:nvPicPr>
          <p:cNvPr id="10" name="Image 3" descr="Check">    </p:cNvPr>
          <p:cNvPicPr>
            <a:picLocks noChangeAspect="1"/>
          </p:cNvPicPr>
          <p:nvPr/>
        </p:nvPicPr>
        <p:blipFill>
          <a:blip r:embed="rId4"/>
          <a:srcRect l="0" r="0" t="0" b="0"/>
          <a:stretch/>
        </p:blipFill>
        <p:spPr>
          <a:xfrm>
            <a:off x="812800" y="3200400"/>
            <a:ext cx="228600" cy="228600"/>
          </a:xfrm>
          <a:prstGeom prst="rect">
            <a:avLst/>
          </a:prstGeom>
        </p:spPr>
      </p:pic>
      <p:sp>
        <p:nvSpPr>
          <p:cNvPr id="11" name="Text 5"/>
          <p:cNvSpPr/>
          <p:nvPr/>
        </p:nvSpPr>
        <p:spPr>
          <a:xfrm>
            <a:off x="1168400" y="3200400"/>
            <a:ext cx="5715000" cy="274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A lender console: alerts, staff actions, what-if, audit log</a:t>
            </a:r>
            <a:endParaRPr lang="en-US" sz="1200" dirty="0"/>
          </a:p>
        </p:txBody>
      </p:sp>
      <p:pic>
        <p:nvPicPr>
          <p:cNvPr id="12" name="Image 4" descr="Check">    </p:cNvPr>
          <p:cNvPicPr>
            <a:picLocks noChangeAspect="1"/>
          </p:cNvPicPr>
          <p:nvPr/>
        </p:nvPicPr>
        <p:blipFill>
          <a:blip r:embed="rId5"/>
          <a:srcRect l="0" r="0" t="0" b="0"/>
          <a:stretch/>
        </p:blipFill>
        <p:spPr>
          <a:xfrm>
            <a:off x="812800" y="3630168"/>
            <a:ext cx="228600" cy="228600"/>
          </a:xfrm>
          <a:prstGeom prst="rect">
            <a:avLst/>
          </a:prstGeom>
        </p:spPr>
      </p:pic>
      <p:sp>
        <p:nvSpPr>
          <p:cNvPr id="13" name="Text 6"/>
          <p:cNvSpPr/>
          <p:nvPr/>
        </p:nvSpPr>
        <p:spPr>
          <a:xfrm>
            <a:off x="1168400" y="3630168"/>
            <a:ext cx="5715000" cy="274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5F0"/>
                </a:solidFill>
                <a:latin typeface="DM Sans" pitchFamily="34" charset="0"/>
                <a:ea typeface="DM Sans" pitchFamily="34" charset="-122"/>
                <a:cs typeface="DM Sans" pitchFamily="34" charset="-120"/>
              </a:rPr>
              <a:t>40 scenario checks and 160 tests, run live; 0 rule breaks in the replay</a:t>
            </a:r>
            <a:endParaRPr lang="en-US" sz="1200" dirty="0"/>
          </a:p>
        </p:txBody>
      </p:sp>
      <p:sp>
        <p:nvSpPr>
          <p:cNvPr id="14" name="Shape 7"/>
          <p:cNvSpPr/>
          <p:nvPr/>
        </p:nvSpPr>
        <p:spPr>
          <a:xfrm>
            <a:off x="6969770" y="1910011"/>
            <a:ext cx="4409430" cy="2466181"/>
          </a:xfrm>
          <a:prstGeom prst="roundRect">
            <a:avLst>
              <a:gd name="adj" fmla="val 4120"/>
            </a:avLst>
          </a:prstGeom>
          <a:solidFill>
            <a:srgbClr val="1A2A47"/>
          </a:solidFill>
          <a:ln/>
        </p:spPr>
        <p:txBody>
          <a:bodyPr/>
          <a:p/>
        </p:txBody>
      </p:sp>
      <p:sp>
        <p:nvSpPr>
          <p:cNvPr id="15" name="Text 8"/>
          <p:cNvSpPr/>
          <p:nvPr/>
        </p:nvSpPr>
        <p:spPr>
          <a:xfrm>
            <a:off x="7223770" y="2164011"/>
            <a:ext cx="40184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93B"/>
                </a:solidFill>
                <a:latin typeface="DM Sans" pitchFamily="34" charset="0"/>
                <a:ea typeface="DM Sans" pitchFamily="34" charset="-122"/>
                <a:cs typeface="DM Sans" pitchFamily="34" charset="-120"/>
              </a:rPr>
              <a:t>TEAM</a:t>
            </a:r>
            <a:endParaRPr lang="en-US" sz="1200" dirty="0"/>
          </a:p>
        </p:txBody>
      </p:sp>
      <p:sp>
        <p:nvSpPr>
          <p:cNvPr id="16" name="Text 9"/>
          <p:cNvSpPr/>
          <p:nvPr/>
        </p:nvSpPr>
        <p:spPr>
          <a:xfrm>
            <a:off x="7223770" y="2453531"/>
            <a:ext cx="401847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F0"/>
                </a:solidFill>
                <a:latin typeface="Fraunces" pitchFamily="18" charset="0"/>
                <a:ea typeface="Fraunces" pitchFamily="18" charset="-122"/>
                <a:cs typeface="Fraunces" pitchFamily="18" charset="-120"/>
              </a:rPr>
              <a:t>Siddh Mehta</a:t>
            </a:r>
            <a:endParaRPr lang="en-US" sz="2200" dirty="0"/>
          </a:p>
        </p:txBody>
      </p:sp>
      <p:sp>
        <p:nvSpPr>
          <p:cNvPr id="17" name="Text 10"/>
          <p:cNvSpPr/>
          <p:nvPr/>
        </p:nvSpPr>
        <p:spPr>
          <a:xfrm>
            <a:off x="7223770" y="2864991"/>
            <a:ext cx="401847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ML Analyst, Airbus India, Bengaluru: reconciliation pipelines and NLP ticket clustering in production</a:t>
            </a:r>
            <a:endParaRPr lang="en-US" sz="1200" dirty="0"/>
          </a:p>
        </p:txBody>
      </p:sp>
      <p:sp>
        <p:nvSpPr>
          <p:cNvPr id="18" name="Text 11"/>
          <p:cNvSpPr/>
          <p:nvPr/>
        </p:nvSpPr>
        <p:spPr>
          <a:xfrm>
            <a:off x="7223770" y="3383111"/>
            <a:ext cx="401847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6DCE7"/>
                </a:solidFill>
                <a:latin typeface="DM Sans" pitchFamily="34" charset="0"/>
                <a:ea typeface="DM Sans" pitchFamily="34" charset="-122"/>
                <a:cs typeface="DM Sans" pitchFamily="34" charset="-120"/>
              </a:rPr>
              <a:t>Earlier: LangGraph agents at Fynd; document classification with Samsung PRISM</a:t>
            </a:r>
            <a:endParaRPr lang="en-US" sz="1200" dirty="0"/>
          </a:p>
        </p:txBody>
      </p:sp>
      <p:sp>
        <p:nvSpPr>
          <p:cNvPr id="19" name="Text 12"/>
          <p:cNvSpPr/>
          <p:nvPr/>
        </p:nvSpPr>
        <p:spPr>
          <a:xfrm>
            <a:off x="7223770" y="3901232"/>
            <a:ext cx="401847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C3D6"/>
                </a:solidFill>
                <a:latin typeface="DM Sans" pitchFamily="34" charset="0"/>
                <a:ea typeface="DM Sans" pitchFamily="34" charset="-122"/>
                <a:cs typeface="DM Sans" pitchFamily="34" charset="-120"/>
              </a:rPr>
              <a:t>B.Tech CSE (Data Science), VIT Vellore</a:t>
            </a:r>
            <a:endParaRPr lang="en-US" sz="1200" dirty="0"/>
          </a:p>
        </p:txBody>
      </p:sp>
      <p:sp>
        <p:nvSpPr>
          <p:cNvPr id="20" name="Text 13"/>
          <p:cNvSpPr/>
          <p:nvPr/>
        </p:nvSpPr>
        <p:spPr>
          <a:xfrm>
            <a:off x="812800" y="4655592"/>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93B"/>
                </a:solidFill>
                <a:latin typeface="Fraunces" pitchFamily="18" charset="0"/>
                <a:ea typeface="Fraunces" pitchFamily="18" charset="-122"/>
                <a:cs typeface="Fraunces" pitchFamily="18" charset="-120"/>
              </a:rPr>
              <a:t>Sambhal: help before the backlog, and ready for the next one.</a:t>
            </a:r>
            <a:endParaRPr lang="en-US" sz="2200" dirty="0"/>
          </a:p>
        </p:txBody>
      </p:sp>
      <p:sp>
        <p:nvSpPr>
          <p:cNvPr id="21"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D6"/>
                </a:solidFill>
                <a:latin typeface="DM Sans" pitchFamily="34" charset="0"/>
                <a:ea typeface="DM Sans" pitchFamily="34" charset="-122"/>
                <a:cs typeface="DM Sans" pitchFamily="34" charset="-120"/>
              </a:rPr>
              <a:t>All merchant data in the prototype is synthetic. No real payments or messages are sent.</a:t>
            </a:r>
            <a:endParaRPr lang="en-US" sz="1200" dirty="0"/>
          </a:p>
        </p:txBody>
      </p:sp>
      <p:sp>
        <p:nvSpPr>
          <p:cNvPr id="22"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3D6"/>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813816" y="566928"/>
            <a:ext cx="7315200" cy="237744"/>
          </a:xfrm>
          <a:prstGeom prst="rect">
            <a:avLst/>
          </a:prstGeom>
          <a:noFill/>
        </p:spPr>
        <p:txBody>
          <a:bodyPr wrap="square" lIns="0" rIns="0" tIns="0" bIns="0" anchor="t">
            <a:spAutoFit/>
          </a:bodyPr>
          <a:lstStyle/>
          <a:p>
            <a:pPr algn="l">
              <a:lnSpc>
                <a:spcPts val="1680"/>
              </a:lnSpc>
            </a:pPr>
            <a:r>
              <a:rPr sz="1200" b="1" spc="150">
                <a:solidFill>
                  <a:srgbClr val="94560A"/>
                </a:solidFill>
                <a:latin typeface="DM Sans"/>
              </a:rPr>
              <a:t>EXECUTIVE SUMMARY</a:t>
            </a:r>
          </a:p>
        </p:txBody>
      </p:sp>
      <p:sp>
        <p:nvSpPr>
          <p:cNvPr id="3" name="TextBox 2"/>
          <p:cNvSpPr txBox="1"/>
          <p:nvPr/>
        </p:nvSpPr>
        <p:spPr>
          <a:xfrm>
            <a:off x="813816" y="841248"/>
            <a:ext cx="10607040" cy="914400"/>
          </a:xfrm>
          <a:prstGeom prst="rect">
            <a:avLst/>
          </a:prstGeom>
          <a:noFill/>
        </p:spPr>
        <p:txBody>
          <a:bodyPr wrap="square" lIns="0" rIns="0" tIns="0" bIns="0" anchor="t">
            <a:spAutoFit/>
          </a:bodyPr>
          <a:lstStyle/>
          <a:p>
            <a:pPr algn="l">
              <a:lnSpc>
                <a:spcPts val="3600"/>
              </a:lnSpc>
            </a:pPr>
            <a:r>
              <a:rPr sz="2800" b="1">
                <a:solidFill>
                  <a:srgbClr val="0E1B33"/>
                </a:solidFill>
                <a:latin typeface="Fraunces"/>
              </a:rPr>
              <a:t>Paytm sees a shop’s bad week before the loan payment fails.</a:t>
            </a:r>
          </a:p>
          <a:p>
            <a:pPr algn="l">
              <a:lnSpc>
                <a:spcPts val="3600"/>
              </a:lnSpc>
            </a:pPr>
            <a:r>
              <a:rPr sz="2800" b="1">
                <a:solidFill>
                  <a:srgbClr val="1E7B6E"/>
                </a:solidFill>
                <a:latin typeface="Fraunces"/>
              </a:rPr>
              <a:t>Sambhal helps instead of collecting.</a:t>
            </a:r>
          </a:p>
        </p:txBody>
      </p:sp>
      <p:sp>
        <p:nvSpPr>
          <p:cNvPr id="4" name="Rounded Rectangle 3"/>
          <p:cNvSpPr/>
          <p:nvPr/>
        </p:nvSpPr>
        <p:spPr>
          <a:xfrm>
            <a:off x="813816" y="1938528"/>
            <a:ext cx="5175504" cy="1874519"/>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121408"/>
            <a:ext cx="4754880" cy="237744"/>
          </a:xfrm>
          <a:prstGeom prst="rect">
            <a:avLst/>
          </a:prstGeom>
          <a:noFill/>
        </p:spPr>
        <p:txBody>
          <a:bodyPr wrap="square" lIns="0" rIns="0" tIns="0" bIns="0" anchor="t">
            <a:spAutoFit/>
          </a:bodyPr>
          <a:lstStyle/>
          <a:p>
            <a:pPr algn="l">
              <a:lnSpc>
                <a:spcPts val="1680"/>
              </a:lnSpc>
            </a:pPr>
            <a:r>
              <a:rPr sz="1200" b="1" spc="150">
                <a:solidFill>
                  <a:srgbClr val="5D6679"/>
                </a:solidFill>
                <a:latin typeface="DM Sans"/>
              </a:rPr>
              <a:t>RAVI’S MONDAY, AFTER 3 DAYS SHUT</a:t>
            </a:r>
          </a:p>
        </p:txBody>
      </p:sp>
      <p:sp>
        <p:nvSpPr>
          <p:cNvPr id="6" name="TextBox 5"/>
          <p:cNvSpPr txBox="1"/>
          <p:nvPr/>
        </p:nvSpPr>
        <p:spPr>
          <a:xfrm>
            <a:off x="1069848" y="2487168"/>
            <a:ext cx="2743200" cy="201168"/>
          </a:xfrm>
          <a:prstGeom prst="rect">
            <a:avLst/>
          </a:prstGeom>
          <a:noFill/>
        </p:spPr>
        <p:txBody>
          <a:bodyPr wrap="square" lIns="0" rIns="0" tIns="0" bIns="0" anchor="t">
            <a:spAutoFit/>
          </a:bodyPr>
          <a:lstStyle/>
          <a:p>
            <a:pPr algn="l"/>
            <a:r>
              <a:rPr sz="1100" b="1">
                <a:solidFill>
                  <a:srgbClr val="44506A"/>
                </a:solidFill>
                <a:latin typeface="DM Sans"/>
              </a:rPr>
              <a:t>Without Sambhal</a:t>
            </a:r>
          </a:p>
        </p:txBody>
      </p:sp>
      <p:sp>
        <p:nvSpPr>
          <p:cNvPr id="7" name="Rounded Rectangle 6"/>
          <p:cNvSpPr/>
          <p:nvPr/>
        </p:nvSpPr>
        <p:spPr>
          <a:xfrm>
            <a:off x="1069848" y="2734056"/>
            <a:ext cx="2743200" cy="146304"/>
          </a:xfrm>
          <a:prstGeom prst="roundRect">
            <a:avLst>
              <a:gd name="adj" fmla="val 50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069848" y="2734056"/>
            <a:ext cx="1563624" cy="146304"/>
          </a:xfrm>
          <a:prstGeom prst="roundRect">
            <a:avLst>
              <a:gd name="adj" fmla="val 50000"/>
            </a:avLst>
          </a:prstGeom>
          <a:solidFill>
            <a:srgbClr val="5D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977639" y="2615184"/>
            <a:ext cx="1828800" cy="365760"/>
          </a:xfrm>
          <a:prstGeom prst="rect">
            <a:avLst/>
          </a:prstGeom>
          <a:noFill/>
        </p:spPr>
        <p:txBody>
          <a:bodyPr wrap="square" lIns="0" rIns="0" tIns="0" bIns="0" anchor="t">
            <a:spAutoFit/>
          </a:bodyPr>
          <a:lstStyle/>
          <a:p>
            <a:pPr algn="l"/>
            <a:r>
              <a:rPr sz="1700" b="1">
                <a:solidFill>
                  <a:srgbClr val="44506A"/>
                </a:solidFill>
                <a:latin typeface="Fraunces"/>
              </a:rPr>
              <a:t>₹3,400 · 57%</a:t>
            </a:r>
          </a:p>
        </p:txBody>
      </p:sp>
      <p:sp>
        <p:nvSpPr>
          <p:cNvPr id="10" name="TextBox 9"/>
          <p:cNvSpPr txBox="1"/>
          <p:nvPr/>
        </p:nvSpPr>
        <p:spPr>
          <a:xfrm>
            <a:off x="1069848" y="3035808"/>
            <a:ext cx="2743200" cy="201168"/>
          </a:xfrm>
          <a:prstGeom prst="rect">
            <a:avLst/>
          </a:prstGeom>
          <a:noFill/>
        </p:spPr>
        <p:txBody>
          <a:bodyPr wrap="square" lIns="0" rIns="0" tIns="0" bIns="0" anchor="t">
            <a:spAutoFit/>
          </a:bodyPr>
          <a:lstStyle/>
          <a:p>
            <a:pPr algn="l"/>
            <a:r>
              <a:rPr sz="1100" b="1">
                <a:solidFill>
                  <a:srgbClr val="0E1B33"/>
                </a:solidFill>
                <a:latin typeface="DM Sans"/>
              </a:rPr>
              <a:t>With Sambhal</a:t>
            </a:r>
          </a:p>
        </p:txBody>
      </p:sp>
      <p:sp>
        <p:nvSpPr>
          <p:cNvPr id="11" name="Rounded Rectangle 10"/>
          <p:cNvSpPr/>
          <p:nvPr/>
        </p:nvSpPr>
        <p:spPr>
          <a:xfrm>
            <a:off x="1069848" y="3282696"/>
            <a:ext cx="2743200" cy="146304"/>
          </a:xfrm>
          <a:prstGeom prst="roundRect">
            <a:avLst>
              <a:gd name="adj" fmla="val 50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069848" y="3282696"/>
            <a:ext cx="466344" cy="146304"/>
          </a:xfrm>
          <a:prstGeom prst="roundRect">
            <a:avLst>
              <a:gd name="adj" fmla="val 50000"/>
            </a:avLst>
          </a:prstGeom>
          <a:solidFill>
            <a:srgbClr val="1E7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977639" y="3163824"/>
            <a:ext cx="1828800" cy="365760"/>
          </a:xfrm>
          <a:prstGeom prst="rect">
            <a:avLst/>
          </a:prstGeom>
          <a:noFill/>
        </p:spPr>
        <p:txBody>
          <a:bodyPr wrap="square" lIns="0" rIns="0" tIns="0" bIns="0" anchor="t">
            <a:spAutoFit/>
          </a:bodyPr>
          <a:lstStyle/>
          <a:p>
            <a:pPr algn="l"/>
            <a:r>
              <a:rPr sz="1700" b="1">
                <a:solidFill>
                  <a:srgbClr val="0E1B33"/>
                </a:solidFill>
                <a:latin typeface="Fraunces"/>
              </a:rPr>
              <a:t>₹1,032 · 17%</a:t>
            </a:r>
          </a:p>
        </p:txBody>
      </p:sp>
      <p:sp>
        <p:nvSpPr>
          <p:cNvPr id="14" name="TextBox 13"/>
          <p:cNvSpPr txBox="1"/>
          <p:nvPr/>
        </p:nvSpPr>
        <p:spPr>
          <a:xfrm>
            <a:off x="1069848" y="3584448"/>
            <a:ext cx="4754880" cy="182880"/>
          </a:xfrm>
          <a:prstGeom prst="rect">
            <a:avLst/>
          </a:prstGeom>
          <a:noFill/>
        </p:spPr>
        <p:txBody>
          <a:bodyPr wrap="square" lIns="0" rIns="0" tIns="0" bIns="0" anchor="t">
            <a:spAutoFit/>
          </a:bodyPr>
          <a:lstStyle/>
          <a:p>
            <a:pPr algn="l"/>
            <a:r>
              <a:rPr sz="950" b="0">
                <a:solidFill>
                  <a:srgbClr val="5D6679"/>
                </a:solidFill>
                <a:latin typeface="DM Sans"/>
              </a:rPr>
              <a:t>Share of the day’s sales deducted. Without Sambhal: our model, as PhonePe documents.</a:t>
            </a:r>
          </a:p>
        </p:txBody>
      </p:sp>
      <p:sp>
        <p:nvSpPr>
          <p:cNvPr id="15" name="Rounded Rectangle 14"/>
          <p:cNvSpPr/>
          <p:nvPr/>
        </p:nvSpPr>
        <p:spPr>
          <a:xfrm>
            <a:off x="6199632" y="1938528"/>
            <a:ext cx="5175504" cy="1874519"/>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55664" y="2121408"/>
            <a:ext cx="4754880" cy="237744"/>
          </a:xfrm>
          <a:prstGeom prst="rect">
            <a:avLst/>
          </a:prstGeom>
          <a:noFill/>
        </p:spPr>
        <p:txBody>
          <a:bodyPr wrap="square" lIns="0" rIns="0" tIns="0" bIns="0" anchor="t">
            <a:spAutoFit/>
          </a:bodyPr>
          <a:lstStyle/>
          <a:p>
            <a:pPr algn="l">
              <a:lnSpc>
                <a:spcPts val="1680"/>
              </a:lnSpc>
            </a:pPr>
            <a:r>
              <a:rPr sz="1200" b="1" spc="150">
                <a:solidFill>
                  <a:srgbClr val="5D6679"/>
                </a:solidFill>
                <a:latin typeface="DM Sans"/>
              </a:rPr>
              <a:t>HOW IT WORKS</a:t>
            </a:r>
          </a:p>
        </p:txBody>
      </p:sp>
      <p:sp>
        <p:nvSpPr>
          <p:cNvPr id="17" name="TextBox 16"/>
          <p:cNvSpPr txBox="1"/>
          <p:nvPr/>
        </p:nvSpPr>
        <p:spPr>
          <a:xfrm>
            <a:off x="6455664" y="2468880"/>
            <a:ext cx="1078992" cy="274320"/>
          </a:xfrm>
          <a:prstGeom prst="rect">
            <a:avLst/>
          </a:prstGeom>
          <a:noFill/>
        </p:spPr>
        <p:txBody>
          <a:bodyPr wrap="square" lIns="0" rIns="0" tIns="0" bIns="0" anchor="t">
            <a:spAutoFit/>
          </a:bodyPr>
          <a:lstStyle/>
          <a:p>
            <a:pPr algn="l"/>
            <a:r>
              <a:rPr sz="1500" b="1">
                <a:solidFill>
                  <a:srgbClr val="0E1B33"/>
                </a:solidFill>
                <a:latin typeface="DM Sans"/>
              </a:rPr>
              <a:t>Watch</a:t>
            </a:r>
          </a:p>
        </p:txBody>
      </p:sp>
      <p:sp>
        <p:nvSpPr>
          <p:cNvPr id="18" name="TextBox 17"/>
          <p:cNvSpPr txBox="1"/>
          <p:nvPr/>
        </p:nvSpPr>
        <p:spPr>
          <a:xfrm>
            <a:off x="6455664" y="2798064"/>
            <a:ext cx="1078992" cy="914400"/>
          </a:xfrm>
          <a:prstGeom prst="rect">
            <a:avLst/>
          </a:prstGeom>
          <a:noFill/>
        </p:spPr>
        <p:txBody>
          <a:bodyPr wrap="square" lIns="0" rIns="0" tIns="0" bIns="0" anchor="t">
            <a:spAutoFit/>
          </a:bodyPr>
          <a:lstStyle/>
          <a:p>
            <a:pPr algn="l">
              <a:lnSpc>
                <a:spcPts val="1350"/>
              </a:lnSpc>
            </a:pPr>
            <a:r>
              <a:rPr sz="1050" b="0">
                <a:solidFill>
                  <a:srgbClr val="44506A"/>
                </a:solidFill>
                <a:latin typeface="DM Sans"/>
              </a:rPr>
              <a:t>Two days below half of normal sales: flagged before a miss</a:t>
            </a:r>
          </a:p>
        </p:txBody>
      </p:sp>
      <p:sp>
        <p:nvSpPr>
          <p:cNvPr id="19" name="TextBox 18"/>
          <p:cNvSpPr txBox="1"/>
          <p:nvPr/>
        </p:nvSpPr>
        <p:spPr>
          <a:xfrm>
            <a:off x="7296912" y="2468880"/>
            <a:ext cx="274320" cy="274320"/>
          </a:xfrm>
          <a:prstGeom prst="rect">
            <a:avLst/>
          </a:prstGeom>
          <a:noFill/>
        </p:spPr>
        <p:txBody>
          <a:bodyPr wrap="square" lIns="0" rIns="0" tIns="0" bIns="0" anchor="t">
            <a:spAutoFit/>
          </a:bodyPr>
          <a:lstStyle/>
          <a:p>
            <a:pPr algn="l"/>
            <a:r>
              <a:rPr sz="1500" b="1">
                <a:solidFill>
                  <a:srgbClr val="F2A93B"/>
                </a:solidFill>
                <a:latin typeface="DM Sans"/>
              </a:rPr>
              <a:t>→</a:t>
            </a:r>
          </a:p>
        </p:txBody>
      </p:sp>
      <p:sp>
        <p:nvSpPr>
          <p:cNvPr id="20" name="TextBox 19"/>
          <p:cNvSpPr txBox="1"/>
          <p:nvPr/>
        </p:nvSpPr>
        <p:spPr>
          <a:xfrm>
            <a:off x="7653527" y="2468880"/>
            <a:ext cx="1078992" cy="274320"/>
          </a:xfrm>
          <a:prstGeom prst="rect">
            <a:avLst/>
          </a:prstGeom>
          <a:noFill/>
        </p:spPr>
        <p:txBody>
          <a:bodyPr wrap="square" lIns="0" rIns="0" tIns="0" bIns="0" anchor="t">
            <a:spAutoFit/>
          </a:bodyPr>
          <a:lstStyle/>
          <a:p>
            <a:pPr algn="l"/>
            <a:r>
              <a:rPr sz="1500" b="1">
                <a:solidFill>
                  <a:srgbClr val="0E1B33"/>
                </a:solidFill>
                <a:latin typeface="DM Sans"/>
              </a:rPr>
              <a:t>Talk</a:t>
            </a:r>
          </a:p>
        </p:txBody>
      </p:sp>
      <p:sp>
        <p:nvSpPr>
          <p:cNvPr id="21" name="TextBox 20"/>
          <p:cNvSpPr txBox="1"/>
          <p:nvPr/>
        </p:nvSpPr>
        <p:spPr>
          <a:xfrm>
            <a:off x="7653527" y="2798064"/>
            <a:ext cx="1078992" cy="914400"/>
          </a:xfrm>
          <a:prstGeom prst="rect">
            <a:avLst/>
          </a:prstGeom>
          <a:noFill/>
        </p:spPr>
        <p:txBody>
          <a:bodyPr wrap="square" lIns="0" rIns="0" tIns="0" bIns="0" anchor="t">
            <a:spAutoFit/>
          </a:bodyPr>
          <a:lstStyle/>
          <a:p>
            <a:pPr algn="l">
              <a:lnSpc>
                <a:spcPts val="1350"/>
              </a:lnSpc>
            </a:pPr>
            <a:r>
              <a:rPr sz="1050" b="0">
                <a:solidFill>
                  <a:srgbClr val="44506A"/>
                </a:solidFill>
                <a:latin typeface="DM Sans"/>
              </a:rPr>
              <a:t>Voice note in his language, only 8 am–7 pm</a:t>
            </a:r>
          </a:p>
        </p:txBody>
      </p:sp>
      <p:sp>
        <p:nvSpPr>
          <p:cNvPr id="22" name="TextBox 21"/>
          <p:cNvSpPr txBox="1"/>
          <p:nvPr/>
        </p:nvSpPr>
        <p:spPr>
          <a:xfrm>
            <a:off x="8494776" y="2468880"/>
            <a:ext cx="274320" cy="274320"/>
          </a:xfrm>
          <a:prstGeom prst="rect">
            <a:avLst/>
          </a:prstGeom>
          <a:noFill/>
        </p:spPr>
        <p:txBody>
          <a:bodyPr wrap="square" lIns="0" rIns="0" tIns="0" bIns="0" anchor="t">
            <a:spAutoFit/>
          </a:bodyPr>
          <a:lstStyle/>
          <a:p>
            <a:pPr algn="l"/>
            <a:r>
              <a:rPr sz="1500" b="1">
                <a:solidFill>
                  <a:srgbClr val="F2A93B"/>
                </a:solidFill>
                <a:latin typeface="DM Sans"/>
              </a:rPr>
              <a:t>→</a:t>
            </a:r>
          </a:p>
        </p:txBody>
      </p:sp>
      <p:sp>
        <p:nvSpPr>
          <p:cNvPr id="23" name="TextBox 22"/>
          <p:cNvSpPr txBox="1"/>
          <p:nvPr/>
        </p:nvSpPr>
        <p:spPr>
          <a:xfrm>
            <a:off x="8851392" y="2468880"/>
            <a:ext cx="1078992" cy="274320"/>
          </a:xfrm>
          <a:prstGeom prst="rect">
            <a:avLst/>
          </a:prstGeom>
          <a:noFill/>
        </p:spPr>
        <p:txBody>
          <a:bodyPr wrap="square" lIns="0" rIns="0" tIns="0" bIns="0" anchor="t">
            <a:spAutoFit/>
          </a:bodyPr>
          <a:lstStyle/>
          <a:p>
            <a:pPr algn="l"/>
            <a:r>
              <a:rPr sz="1500" b="1">
                <a:solidFill>
                  <a:srgbClr val="0E1B33"/>
                </a:solidFill>
                <a:latin typeface="DM Sans"/>
              </a:rPr>
              <a:t>Fix</a:t>
            </a:r>
          </a:p>
        </p:txBody>
      </p:sp>
      <p:sp>
        <p:nvSpPr>
          <p:cNvPr id="24" name="TextBox 23"/>
          <p:cNvSpPr txBox="1"/>
          <p:nvPr/>
        </p:nvSpPr>
        <p:spPr>
          <a:xfrm>
            <a:off x="8851392" y="2798064"/>
            <a:ext cx="1078992" cy="914400"/>
          </a:xfrm>
          <a:prstGeom prst="rect">
            <a:avLst/>
          </a:prstGeom>
          <a:noFill/>
        </p:spPr>
        <p:txBody>
          <a:bodyPr wrap="square" lIns="0" rIns="0" tIns="0" bIns="0" anchor="t">
            <a:spAutoFit/>
          </a:bodyPr>
          <a:lstStyle/>
          <a:p>
            <a:pPr algn="l">
              <a:lnSpc>
                <a:spcPts val="1350"/>
              </a:lnSpc>
            </a:pPr>
            <a:r>
              <a:rPr sz="1050" b="0">
                <a:solidFill>
                  <a:srgbClr val="44506A"/>
                </a:solidFill>
                <a:latin typeface="DM Sans"/>
              </a:rPr>
              <a:t>Only the lender’s pre-approved relief; code sets every rupee</a:t>
            </a:r>
          </a:p>
        </p:txBody>
      </p:sp>
      <p:sp>
        <p:nvSpPr>
          <p:cNvPr id="25" name="TextBox 24"/>
          <p:cNvSpPr txBox="1"/>
          <p:nvPr/>
        </p:nvSpPr>
        <p:spPr>
          <a:xfrm>
            <a:off x="9692640" y="2468880"/>
            <a:ext cx="274320" cy="274320"/>
          </a:xfrm>
          <a:prstGeom prst="rect">
            <a:avLst/>
          </a:prstGeom>
          <a:noFill/>
        </p:spPr>
        <p:txBody>
          <a:bodyPr wrap="square" lIns="0" rIns="0" tIns="0" bIns="0" anchor="t">
            <a:spAutoFit/>
          </a:bodyPr>
          <a:lstStyle/>
          <a:p>
            <a:pPr algn="l"/>
            <a:r>
              <a:rPr sz="1500" b="1">
                <a:solidFill>
                  <a:srgbClr val="F2A93B"/>
                </a:solidFill>
                <a:latin typeface="DM Sans"/>
              </a:rPr>
              <a:t>→</a:t>
            </a:r>
          </a:p>
        </p:txBody>
      </p:sp>
      <p:sp>
        <p:nvSpPr>
          <p:cNvPr id="26" name="TextBox 25"/>
          <p:cNvSpPr txBox="1"/>
          <p:nvPr/>
        </p:nvSpPr>
        <p:spPr>
          <a:xfrm>
            <a:off x="10049256" y="2468880"/>
            <a:ext cx="1078992" cy="274320"/>
          </a:xfrm>
          <a:prstGeom prst="rect">
            <a:avLst/>
          </a:prstGeom>
          <a:noFill/>
        </p:spPr>
        <p:txBody>
          <a:bodyPr wrap="square" lIns="0" rIns="0" tIns="0" bIns="0" anchor="t">
            <a:spAutoFit/>
          </a:bodyPr>
          <a:lstStyle/>
          <a:p>
            <a:pPr algn="l"/>
            <a:r>
              <a:rPr sz="1500" b="1">
                <a:solidFill>
                  <a:srgbClr val="1E7B6E"/>
                </a:solidFill>
                <a:latin typeface="DM Sans"/>
              </a:rPr>
              <a:t>Verify</a:t>
            </a:r>
          </a:p>
        </p:txBody>
      </p:sp>
      <p:sp>
        <p:nvSpPr>
          <p:cNvPr id="27" name="TextBox 26"/>
          <p:cNvSpPr txBox="1"/>
          <p:nvPr/>
        </p:nvSpPr>
        <p:spPr>
          <a:xfrm>
            <a:off x="10049256" y="2798064"/>
            <a:ext cx="1078992" cy="914400"/>
          </a:xfrm>
          <a:prstGeom prst="rect">
            <a:avLst/>
          </a:prstGeom>
          <a:noFill/>
        </p:spPr>
        <p:txBody>
          <a:bodyPr wrap="square" lIns="0" rIns="0" tIns="0" bIns="0" anchor="t">
            <a:spAutoFit/>
          </a:bodyPr>
          <a:lstStyle/>
          <a:p>
            <a:pPr algn="l">
              <a:lnSpc>
                <a:spcPts val="1350"/>
              </a:lnSpc>
            </a:pPr>
            <a:r>
              <a:rPr sz="1050" b="0">
                <a:solidFill>
                  <a:srgbClr val="44506A"/>
                </a:solidFill>
                <a:latin typeface="DM Sans"/>
              </a:rPr>
              <a:t>Sales back, case closed, every step on record</a:t>
            </a:r>
          </a:p>
        </p:txBody>
      </p:sp>
      <p:sp>
        <p:nvSpPr>
          <p:cNvPr id="28" name="Rounded Rectangle 27"/>
          <p:cNvSpPr/>
          <p:nvPr/>
        </p:nvSpPr>
        <p:spPr>
          <a:xfrm>
            <a:off x="813816" y="3977639"/>
            <a:ext cx="2468880" cy="109728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087368"/>
            <a:ext cx="2103120" cy="384048"/>
          </a:xfrm>
          <a:prstGeom prst="rect">
            <a:avLst/>
          </a:prstGeom>
          <a:noFill/>
        </p:spPr>
        <p:txBody>
          <a:bodyPr wrap="square" lIns="0" rIns="0" tIns="0" bIns="0" anchor="t">
            <a:spAutoFit/>
          </a:bodyPr>
          <a:lstStyle/>
          <a:p>
            <a:pPr algn="l"/>
            <a:r>
              <a:rPr sz="2400" b="1">
                <a:solidFill>
                  <a:srgbClr val="0E1B33"/>
                </a:solidFill>
                <a:latin typeface="Fraunces"/>
              </a:rPr>
              <a:t>22 → 5</a:t>
            </a:r>
          </a:p>
        </p:txBody>
      </p:sp>
      <p:sp>
        <p:nvSpPr>
          <p:cNvPr id="30" name="TextBox 29"/>
          <p:cNvSpPr txBox="1"/>
          <p:nvPr/>
        </p:nvSpPr>
        <p:spPr>
          <a:xfrm>
            <a:off x="1014984" y="4498848"/>
            <a:ext cx="2103120" cy="548640"/>
          </a:xfrm>
          <a:prstGeom prst="rect">
            <a:avLst/>
          </a:prstGeom>
          <a:noFill/>
        </p:spPr>
        <p:txBody>
          <a:bodyPr wrap="square" lIns="0" rIns="0" tIns="0" bIns="0" anchor="t">
            <a:spAutoFit/>
          </a:bodyPr>
          <a:lstStyle/>
          <a:p>
            <a:pPr algn="l">
              <a:lnSpc>
                <a:spcPts val="1250"/>
              </a:lnSpc>
            </a:pPr>
            <a:r>
              <a:rPr sz="1000" b="0">
                <a:solidFill>
                  <a:srgbClr val="44506A"/>
                </a:solidFill>
                <a:latin typeface="DM Sans"/>
              </a:rPr>
              <a:t>merchants overdue, without vs with Sambhal (50 synthetic merchants, same days)</a:t>
            </a:r>
          </a:p>
        </p:txBody>
      </p:sp>
      <p:sp>
        <p:nvSpPr>
          <p:cNvPr id="31" name="Rounded Rectangle 30"/>
          <p:cNvSpPr/>
          <p:nvPr/>
        </p:nvSpPr>
        <p:spPr>
          <a:xfrm>
            <a:off x="3514039" y="3977639"/>
            <a:ext cx="2468880" cy="109728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715207" y="4087368"/>
            <a:ext cx="2103120" cy="384048"/>
          </a:xfrm>
          <a:prstGeom prst="rect">
            <a:avLst/>
          </a:prstGeom>
          <a:noFill/>
        </p:spPr>
        <p:txBody>
          <a:bodyPr wrap="square" lIns="0" rIns="0" tIns="0" bIns="0" anchor="t">
            <a:spAutoFit/>
          </a:bodyPr>
          <a:lstStyle/>
          <a:p>
            <a:pPr algn="l"/>
            <a:r>
              <a:rPr sz="2400" b="1">
                <a:solidFill>
                  <a:srgbClr val="0E1B33"/>
                </a:solidFill>
                <a:latin typeface="Fraunces"/>
              </a:rPr>
              <a:t>0 / 73</a:t>
            </a:r>
          </a:p>
        </p:txBody>
      </p:sp>
      <p:sp>
        <p:nvSpPr>
          <p:cNvPr id="33" name="TextBox 32"/>
          <p:cNvSpPr txBox="1"/>
          <p:nvPr/>
        </p:nvSpPr>
        <p:spPr>
          <a:xfrm>
            <a:off x="3715207" y="4498848"/>
            <a:ext cx="2103120" cy="548640"/>
          </a:xfrm>
          <a:prstGeom prst="rect">
            <a:avLst/>
          </a:prstGeom>
          <a:noFill/>
        </p:spPr>
        <p:txBody>
          <a:bodyPr wrap="square" lIns="0" rIns="0" tIns="0" bIns="0" anchor="t">
            <a:spAutoFit/>
          </a:bodyPr>
          <a:lstStyle/>
          <a:p>
            <a:pPr algn="l">
              <a:lnSpc>
                <a:spcPts val="1250"/>
              </a:lnSpc>
            </a:pPr>
            <a:r>
              <a:rPr sz="1000" b="0">
                <a:solidFill>
                  <a:srgbClr val="44506A"/>
                </a:solidFill>
                <a:latin typeface="DM Sans"/>
              </a:rPr>
              <a:t>AI messages broke a rule (independent audit of the replay)</a:t>
            </a:r>
          </a:p>
        </p:txBody>
      </p:sp>
      <p:sp>
        <p:nvSpPr>
          <p:cNvPr id="34" name="Rounded Rectangle 33"/>
          <p:cNvSpPr/>
          <p:nvPr/>
        </p:nvSpPr>
        <p:spPr>
          <a:xfrm>
            <a:off x="6214262" y="3977639"/>
            <a:ext cx="2468880" cy="109728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15430" y="4087368"/>
            <a:ext cx="2103120" cy="384048"/>
          </a:xfrm>
          <a:prstGeom prst="rect">
            <a:avLst/>
          </a:prstGeom>
          <a:noFill/>
        </p:spPr>
        <p:txBody>
          <a:bodyPr wrap="square" lIns="0" rIns="0" tIns="0" bIns="0" anchor="t">
            <a:spAutoFit/>
          </a:bodyPr>
          <a:lstStyle/>
          <a:p>
            <a:pPr algn="l"/>
            <a:r>
              <a:rPr sz="2400" b="1">
                <a:solidFill>
                  <a:srgbClr val="0E1B33"/>
                </a:solidFill>
                <a:latin typeface="Fraunces"/>
              </a:rPr>
              <a:t>4 / 4</a:t>
            </a:r>
          </a:p>
        </p:txBody>
      </p:sp>
      <p:sp>
        <p:nvSpPr>
          <p:cNvPr id="36" name="TextBox 35"/>
          <p:cNvSpPr txBox="1"/>
          <p:nvPr/>
        </p:nvSpPr>
        <p:spPr>
          <a:xfrm>
            <a:off x="6415430" y="4498848"/>
            <a:ext cx="2103120" cy="548640"/>
          </a:xfrm>
          <a:prstGeom prst="rect">
            <a:avLst/>
          </a:prstGeom>
          <a:noFill/>
        </p:spPr>
        <p:txBody>
          <a:bodyPr wrap="square" lIns="0" rIns="0" tIns="0" bIns="0" anchor="t">
            <a:spAutoFit/>
          </a:bodyPr>
          <a:lstStyle/>
          <a:p>
            <a:pPr algn="l">
              <a:lnSpc>
                <a:spcPts val="1250"/>
              </a:lnSpc>
            </a:pPr>
            <a:r>
              <a:rPr sz="1000" b="0">
                <a:solidFill>
                  <a:srgbClr val="44506A"/>
                </a:solidFill>
                <a:latin typeface="DM Sans"/>
              </a:rPr>
              <a:t>RBI no-contact occasions kept in code: bereavement, illness, family function, calamity</a:t>
            </a:r>
          </a:p>
        </p:txBody>
      </p:sp>
      <p:sp>
        <p:nvSpPr>
          <p:cNvPr id="37" name="Rounded Rectangle 36"/>
          <p:cNvSpPr/>
          <p:nvPr/>
        </p:nvSpPr>
        <p:spPr>
          <a:xfrm>
            <a:off x="8914485" y="3977639"/>
            <a:ext cx="2468880" cy="109728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15653" y="4087368"/>
            <a:ext cx="2103120" cy="384048"/>
          </a:xfrm>
          <a:prstGeom prst="rect">
            <a:avLst/>
          </a:prstGeom>
          <a:noFill/>
        </p:spPr>
        <p:txBody>
          <a:bodyPr wrap="square" lIns="0" rIns="0" tIns="0" bIns="0" anchor="t">
            <a:spAutoFit/>
          </a:bodyPr>
          <a:lstStyle/>
          <a:p>
            <a:pPr algn="l"/>
            <a:r>
              <a:rPr sz="2400" b="1">
                <a:solidFill>
                  <a:srgbClr val="0E1B33"/>
                </a:solidFill>
                <a:latin typeface="Fraunces"/>
              </a:rPr>
              <a:t>1 in 6,000</a:t>
            </a:r>
          </a:p>
        </p:txBody>
      </p:sp>
      <p:sp>
        <p:nvSpPr>
          <p:cNvPr id="39" name="TextBox 38"/>
          <p:cNvSpPr txBox="1"/>
          <p:nvPr/>
        </p:nvSpPr>
        <p:spPr>
          <a:xfrm>
            <a:off x="9115653" y="4498848"/>
            <a:ext cx="2103120" cy="548640"/>
          </a:xfrm>
          <a:prstGeom prst="rect">
            <a:avLst/>
          </a:prstGeom>
          <a:noFill/>
        </p:spPr>
        <p:txBody>
          <a:bodyPr wrap="square" lIns="0" rIns="0" tIns="0" bIns="0" anchor="t">
            <a:spAutoFit/>
          </a:bodyPr>
          <a:lstStyle/>
          <a:p>
            <a:pPr algn="l">
              <a:lnSpc>
                <a:spcPts val="1250"/>
              </a:lnSpc>
            </a:pPr>
            <a:r>
              <a:rPr sz="1000" b="0">
                <a:solidFill>
                  <a:srgbClr val="44506A"/>
                </a:solidFill>
                <a:latin typeface="DM Sans"/>
              </a:rPr>
              <a:t>flagged cases kept from 90+ days overdue pays the AI cost of all 6,000*</a:t>
            </a:r>
          </a:p>
        </p:txBody>
      </p:sp>
      <p:sp>
        <p:nvSpPr>
          <p:cNvPr id="40" name="Rounded Rectangle 39"/>
          <p:cNvSpPr/>
          <p:nvPr/>
        </p:nvSpPr>
        <p:spPr>
          <a:xfrm>
            <a:off x="813816" y="5239512"/>
            <a:ext cx="10561320" cy="566928"/>
          </a:xfrm>
          <a:prstGeom prst="roundRect">
            <a:avLst>
              <a:gd name="adj" fmla="val 12000"/>
            </a:avLst>
          </a:prstGeom>
          <a:solidFill>
            <a:srgbClr val="0E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9848" y="5239512"/>
            <a:ext cx="1463040" cy="566928"/>
          </a:xfrm>
          <a:prstGeom prst="rect">
            <a:avLst/>
          </a:prstGeom>
          <a:noFill/>
        </p:spPr>
        <p:txBody>
          <a:bodyPr wrap="square" lIns="0" rIns="0" tIns="0" bIns="0" anchor="ctr">
            <a:spAutoFit/>
          </a:bodyPr>
          <a:lstStyle/>
          <a:p>
            <a:pPr algn="l"/>
            <a:r>
              <a:rPr sz="1200" b="1" spc="150">
                <a:solidFill>
                  <a:srgbClr val="F2A93B"/>
                </a:solidFill>
                <a:latin typeface="DM Sans"/>
              </a:rPr>
              <a:t>WHY PAYTM</a:t>
            </a:r>
          </a:p>
        </p:txBody>
      </p:sp>
      <p:sp>
        <p:nvSpPr>
          <p:cNvPr id="42" name="TextBox 41"/>
          <p:cNvSpPr txBox="1"/>
          <p:nvPr/>
        </p:nvSpPr>
        <p:spPr>
          <a:xfrm>
            <a:off x="2423160" y="5239512"/>
            <a:ext cx="8778240" cy="566928"/>
          </a:xfrm>
          <a:prstGeom prst="rect">
            <a:avLst/>
          </a:prstGeom>
          <a:noFill/>
        </p:spPr>
        <p:txBody>
          <a:bodyPr wrap="square" lIns="0" rIns="0" tIns="0" bIns="0" anchor="ctr">
            <a:spAutoFit/>
          </a:bodyPr>
          <a:lstStyle/>
          <a:p>
            <a:pPr algn="l"/>
            <a:r>
              <a:rPr sz="1250" b="1">
                <a:solidFill>
                  <a:srgbClr val="FFFFFF"/>
                </a:solidFill>
                <a:latin typeface="DM Sans"/>
              </a:rPr>
              <a:t>₹912 Cr a quarter</a:t>
            </a:r>
            <a:r>
              <a:rPr sz="1250" b="0">
                <a:solidFill>
                  <a:srgbClr val="D6DCE7"/>
                </a:solidFill>
                <a:latin typeface="DM Sans"/>
              </a:rPr>
              <a:t> in financial services revenue, +49%, led by merchant loans  ·  first-loss guarantees </a:t>
            </a:r>
            <a:r>
              <a:rPr sz="1250" b="1">
                <a:solidFill>
                  <a:srgbClr val="FFFFFF"/>
                </a:solidFill>
                <a:latin typeface="DM Sans"/>
              </a:rPr>
              <a:t>up to ₹590 Cr</a:t>
            </a:r>
          </a:p>
        </p:txBody>
      </p:sp>
      <p:sp>
        <p:nvSpPr>
          <p:cNvPr id="43" name="TextBox 42"/>
          <p:cNvSpPr txBox="1"/>
          <p:nvPr/>
        </p:nvSpPr>
        <p:spPr>
          <a:xfrm>
            <a:off x="813816" y="5943600"/>
            <a:ext cx="9601200" cy="502920"/>
          </a:xfrm>
          <a:prstGeom prst="rect">
            <a:avLst/>
          </a:prstGeom>
          <a:noFill/>
        </p:spPr>
        <p:txBody>
          <a:bodyPr wrap="square" lIns="0" rIns="0" tIns="0" bIns="0" anchor="t">
            <a:spAutoFit/>
          </a:bodyPr>
          <a:lstStyle/>
          <a:p>
            <a:pPr algn="l">
              <a:lnSpc>
                <a:spcPts val="1150"/>
              </a:lnSpc>
            </a:pPr>
            <a:r>
              <a:rPr sz="900" b="0">
                <a:solidFill>
                  <a:srgbClr val="5D6679"/>
                </a:solidFill>
                <a:latin typeface="DM Sans"/>
              </a:rPr>
              <a:t>*About ₹10 of Sarvam calls a case (Ravi’s 5 voice notes and 3 replies cost about ₹6). A loan like Ravi’s (₹92,650 still owed) loses about ₹60,000 at 90+ days, where 30–35% is recovered. Sources: Paytm Q2 FY27 release (30–35%: p.15); Paytm filing, 26 Oct 2026, Annexure III (DLG). Demo figures are synthetic.</a:t>
            </a:r>
          </a:p>
        </p:txBody>
      </p:sp>
      <p:sp>
        <p:nvSpPr>
          <p:cNvPr id="44" name="TextBox 43"/>
          <p:cNvSpPr txBox="1"/>
          <p:nvPr/>
        </p:nvSpPr>
        <p:spPr>
          <a:xfrm>
            <a:off x="10570464" y="6236208"/>
            <a:ext cx="813816" cy="237744"/>
          </a:xfrm>
          <a:prstGeom prst="rect">
            <a:avLst/>
          </a:prstGeom>
          <a:noFill/>
        </p:spPr>
        <p:txBody>
          <a:bodyPr wrap="square" lIns="0" rIns="0" tIns="0" bIns="0" anchor="t">
            <a:spAutoFit/>
          </a:bodyPr>
          <a:lstStyle/>
          <a:p>
            <a:pPr algn="r">
              <a:lnSpc>
                <a:spcPts val="1680"/>
              </a:lnSpc>
            </a:pPr>
            <a:r>
              <a:rPr sz="1200" b="0">
                <a:solidFill>
                  <a:srgbClr val="5D6679"/>
                </a:solidFill>
                <a:latin typeface="DM Sans"/>
              </a:rPr>
              <a:t>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CEFF4"/>
        </a:solidFill>
        <a:effectLst/>
      </p:bgPr>
    </p:bg>
    <p:spTree>
      <p:nvGrpSpPr>
        <p:cNvPr id="1" name=""/>
        <p:cNvGrpSpPr/>
        <p:nvPr/>
      </p:nvGrpSpPr>
      <p:grpSpPr/>
      <p:sp>
        <p:nvSpPr>
          <p:cNvPr id="2" name="TextBox 1"/>
          <p:cNvSpPr txBox="1"/>
          <p:nvPr/>
        </p:nvSpPr>
        <p:spPr>
          <a:xfrm>
            <a:off x="813816" y="813816"/>
            <a:ext cx="7315200" cy="237744"/>
          </a:xfrm>
          <a:prstGeom prst="rect">
            <a:avLst/>
          </a:prstGeom>
          <a:noFill/>
        </p:spPr>
        <p:txBody>
          <a:bodyPr wrap="square" lIns="0" rIns="0" tIns="0" bIns="0" anchor="t">
            <a:spAutoFit/>
          </a:bodyPr>
          <a:lstStyle/>
          <a:p>
            <a:pPr algn="l">
              <a:lnSpc>
                <a:spcPts val="1680"/>
              </a:lnSpc>
            </a:pPr>
            <a:r>
              <a:rPr sz="1200" b="1" spc="150">
                <a:solidFill>
                  <a:srgbClr val="94560A"/>
                </a:solidFill>
                <a:latin typeface="DM Sans"/>
              </a:rPr>
              <a:t>SARVAM AI · VOICE AND LANGUAGE</a:t>
            </a:r>
          </a:p>
        </p:txBody>
      </p:sp>
      <p:sp>
        <p:nvSpPr>
          <p:cNvPr id="3" name="TextBox 2"/>
          <p:cNvSpPr txBox="1"/>
          <p:nvPr/>
        </p:nvSpPr>
        <p:spPr>
          <a:xfrm>
            <a:off x="813816" y="1124712"/>
            <a:ext cx="10607040" cy="548640"/>
          </a:xfrm>
          <a:prstGeom prst="rect">
            <a:avLst/>
          </a:prstGeom>
          <a:noFill/>
        </p:spPr>
        <p:txBody>
          <a:bodyPr wrap="square" lIns="0" rIns="0" tIns="0" bIns="0" anchor="t">
            <a:spAutoFit/>
          </a:bodyPr>
          <a:lstStyle/>
          <a:p>
            <a:pPr algn="l">
              <a:lnSpc>
                <a:spcPts val="3960"/>
              </a:lnSpc>
            </a:pPr>
            <a:r>
              <a:rPr sz="3600" b="1">
                <a:solidFill>
                  <a:srgbClr val="0E1B33"/>
                </a:solidFill>
                <a:latin typeface="Fraunces"/>
              </a:rPr>
              <a:t>How we used Sarvam</a:t>
            </a:r>
          </a:p>
        </p:txBody>
      </p:sp>
      <p:sp>
        <p:nvSpPr>
          <p:cNvPr id="4" name="Rounded Rectangle 3"/>
          <p:cNvSpPr/>
          <p:nvPr/>
        </p:nvSpPr>
        <p:spPr>
          <a:xfrm>
            <a:off x="813816" y="1911095"/>
            <a:ext cx="4206240" cy="105156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2066543"/>
            <a:ext cx="3749039" cy="274320"/>
          </a:xfrm>
          <a:prstGeom prst="rect">
            <a:avLst/>
          </a:prstGeom>
          <a:noFill/>
        </p:spPr>
        <p:txBody>
          <a:bodyPr wrap="square" lIns="0" rIns="0" tIns="0" bIns="0" anchor="t">
            <a:spAutoFit/>
          </a:bodyPr>
          <a:lstStyle/>
          <a:p>
            <a:pPr algn="l"/>
            <a:r>
              <a:rPr sz="1400" b="1">
                <a:solidFill>
                  <a:srgbClr val="0E1B33"/>
                </a:solidFill>
                <a:latin typeface="DM Sans"/>
              </a:rPr>
              <a:t>Saaras v4</a:t>
            </a:r>
            <a:r>
              <a:rPr sz="1400" b="0">
                <a:solidFill>
                  <a:srgbClr val="5D6679"/>
                </a:solidFill>
                <a:latin typeface="DM Sans"/>
              </a:rPr>
              <a:t>  speech-to-text</a:t>
            </a:r>
          </a:p>
        </p:txBody>
      </p:sp>
      <p:sp>
        <p:nvSpPr>
          <p:cNvPr id="6" name="TextBox 5"/>
          <p:cNvSpPr txBox="1"/>
          <p:nvPr/>
        </p:nvSpPr>
        <p:spPr>
          <a:xfrm>
            <a:off x="1051560" y="2386584"/>
            <a:ext cx="3749039" cy="548640"/>
          </a:xfrm>
          <a:prstGeom prst="rect">
            <a:avLst/>
          </a:prstGeom>
          <a:noFill/>
        </p:spPr>
        <p:txBody>
          <a:bodyPr wrap="square" lIns="0" rIns="0" tIns="0" bIns="0" anchor="t">
            <a:spAutoFit/>
          </a:bodyPr>
          <a:lstStyle/>
          <a:p>
            <a:pPr algn="l">
              <a:lnSpc>
                <a:spcPts val="1400"/>
              </a:lnSpc>
            </a:pPr>
            <a:r>
              <a:rPr sz="1100" b="0">
                <a:solidFill>
                  <a:srgbClr val="44506A"/>
                </a:solidFill>
                <a:latin typeface="DM Sans"/>
              </a:rPr>
              <a:t>The merchant answers by voice in Kannada, Hindi or English; the language is detected automatically.</a:t>
            </a:r>
          </a:p>
        </p:txBody>
      </p:sp>
      <p:sp>
        <p:nvSpPr>
          <p:cNvPr id="7" name="Rounded Rectangle 6"/>
          <p:cNvSpPr/>
          <p:nvPr/>
        </p:nvSpPr>
        <p:spPr>
          <a:xfrm>
            <a:off x="813816" y="3099815"/>
            <a:ext cx="4206240" cy="105156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3255263"/>
            <a:ext cx="3749039" cy="274320"/>
          </a:xfrm>
          <a:prstGeom prst="rect">
            <a:avLst/>
          </a:prstGeom>
          <a:noFill/>
        </p:spPr>
        <p:txBody>
          <a:bodyPr wrap="square" lIns="0" rIns="0" tIns="0" bIns="0" anchor="t">
            <a:spAutoFit/>
          </a:bodyPr>
          <a:lstStyle/>
          <a:p>
            <a:pPr algn="l"/>
            <a:r>
              <a:rPr sz="1400" b="1">
                <a:solidFill>
                  <a:srgbClr val="0E1B33"/>
                </a:solidFill>
                <a:latin typeface="DM Sans"/>
              </a:rPr>
              <a:t>Bulbul v3</a:t>
            </a:r>
            <a:r>
              <a:rPr sz="1400" b="0">
                <a:solidFill>
                  <a:srgbClr val="5D6679"/>
                </a:solidFill>
                <a:latin typeface="DM Sans"/>
              </a:rPr>
              <a:t>  text-to-speech</a:t>
            </a:r>
          </a:p>
        </p:txBody>
      </p:sp>
      <p:sp>
        <p:nvSpPr>
          <p:cNvPr id="9" name="TextBox 8"/>
          <p:cNvSpPr txBox="1"/>
          <p:nvPr/>
        </p:nvSpPr>
        <p:spPr>
          <a:xfrm>
            <a:off x="1051560" y="3575303"/>
            <a:ext cx="3749039" cy="548640"/>
          </a:xfrm>
          <a:prstGeom prst="rect">
            <a:avLst/>
          </a:prstGeom>
          <a:noFill/>
        </p:spPr>
        <p:txBody>
          <a:bodyPr wrap="square" lIns="0" rIns="0" tIns="0" bIns="0" anchor="t">
            <a:spAutoFit/>
          </a:bodyPr>
          <a:lstStyle/>
          <a:p>
            <a:pPr algn="l">
              <a:lnSpc>
                <a:spcPts val="1400"/>
              </a:lnSpc>
            </a:pPr>
            <a:r>
              <a:rPr sz="1100" b="0">
                <a:solidFill>
                  <a:srgbClr val="44506A"/>
                </a:solidFill>
                <a:latin typeface="DM Sans"/>
              </a:rPr>
              <a:t>Every message is also a voice note in the merchant’s language (voice: priya).</a:t>
            </a:r>
          </a:p>
        </p:txBody>
      </p:sp>
      <p:sp>
        <p:nvSpPr>
          <p:cNvPr id="10" name="Rounded Rectangle 9"/>
          <p:cNvSpPr/>
          <p:nvPr/>
        </p:nvSpPr>
        <p:spPr>
          <a:xfrm>
            <a:off x="813816" y="4288536"/>
            <a:ext cx="4206240" cy="105156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51560" y="4443983"/>
            <a:ext cx="3749039" cy="274320"/>
          </a:xfrm>
          <a:prstGeom prst="rect">
            <a:avLst/>
          </a:prstGeom>
          <a:noFill/>
        </p:spPr>
        <p:txBody>
          <a:bodyPr wrap="square" lIns="0" rIns="0" tIns="0" bIns="0" anchor="t">
            <a:spAutoFit/>
          </a:bodyPr>
          <a:lstStyle/>
          <a:p>
            <a:pPr algn="l"/>
            <a:r>
              <a:rPr sz="1400" b="1">
                <a:solidFill>
                  <a:srgbClr val="0E1B33"/>
                </a:solidFill>
                <a:latin typeface="DM Sans"/>
              </a:rPr>
              <a:t>Sarvam-105b</a:t>
            </a:r>
            <a:r>
              <a:rPr sz="1400" b="0">
                <a:solidFill>
                  <a:srgbClr val="5D6679"/>
                </a:solidFill>
                <a:latin typeface="DM Sans"/>
              </a:rPr>
              <a:t>  language model</a:t>
            </a:r>
          </a:p>
        </p:txBody>
      </p:sp>
      <p:sp>
        <p:nvSpPr>
          <p:cNvPr id="12" name="TextBox 11"/>
          <p:cNvSpPr txBox="1"/>
          <p:nvPr/>
        </p:nvSpPr>
        <p:spPr>
          <a:xfrm>
            <a:off x="1051560" y="4764023"/>
            <a:ext cx="3749039" cy="548640"/>
          </a:xfrm>
          <a:prstGeom prst="rect">
            <a:avLst/>
          </a:prstGeom>
          <a:noFill/>
        </p:spPr>
        <p:txBody>
          <a:bodyPr wrap="square" lIns="0" rIns="0" tIns="0" bIns="0" anchor="t">
            <a:spAutoFit/>
          </a:bodyPr>
          <a:lstStyle/>
          <a:p>
            <a:pPr algn="l">
              <a:lnSpc>
                <a:spcPts val="1400"/>
              </a:lnSpc>
            </a:pPr>
            <a:r>
              <a:rPr sz="1100" b="0">
                <a:solidFill>
                  <a:srgbClr val="44506A"/>
                </a:solidFill>
                <a:latin typeface="DM Sans"/>
              </a:rPr>
              <a:t>Reads “wedding at home, shut till Sunday” as a reason. It never sets amounts or days: code does.</a:t>
            </a:r>
          </a:p>
        </p:txBody>
      </p:sp>
      <p:sp>
        <p:nvSpPr>
          <p:cNvPr id="13" name="Rounded Rectangle 12"/>
          <p:cNvSpPr/>
          <p:nvPr/>
        </p:nvSpPr>
        <p:spPr>
          <a:xfrm>
            <a:off x="5230368" y="1911095"/>
            <a:ext cx="6144768" cy="3429000"/>
          </a:xfrm>
          <a:prstGeom prst="roundRect">
            <a:avLst>
              <a:gd name="adj" fmla="val 6000"/>
            </a:avLst>
          </a:prstGeom>
          <a:solidFill>
            <a:srgbClr val="FFFEFB"/>
          </a:solidFill>
          <a:ln w="635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0" y="2093976"/>
            <a:ext cx="5669280" cy="237744"/>
          </a:xfrm>
          <a:prstGeom prst="rect">
            <a:avLst/>
          </a:prstGeom>
          <a:noFill/>
        </p:spPr>
        <p:txBody>
          <a:bodyPr wrap="square" lIns="0" rIns="0" tIns="0" bIns="0" anchor="t">
            <a:spAutoFit/>
          </a:bodyPr>
          <a:lstStyle/>
          <a:p>
            <a:pPr algn="l">
              <a:lnSpc>
                <a:spcPts val="1680"/>
              </a:lnSpc>
            </a:pPr>
            <a:r>
              <a:rPr sz="1200" b="1" spc="150">
                <a:solidFill>
                  <a:srgbClr val="1E7B6E"/>
                </a:solidFill>
                <a:latin typeface="DM Sans"/>
              </a:rPr>
              <a:t>LISTEN-BACK: SARVAM CHECKS SAMBHAL’S OWN VOICE</a:t>
            </a:r>
          </a:p>
        </p:txBody>
      </p:sp>
      <p:sp>
        <p:nvSpPr>
          <p:cNvPr id="15" name="TextBox 14"/>
          <p:cNvSpPr txBox="1"/>
          <p:nvPr/>
        </p:nvSpPr>
        <p:spPr>
          <a:xfrm>
            <a:off x="5486400" y="2395728"/>
            <a:ext cx="5669280" cy="411480"/>
          </a:xfrm>
          <a:prstGeom prst="rect">
            <a:avLst/>
          </a:prstGeom>
          <a:noFill/>
        </p:spPr>
        <p:txBody>
          <a:bodyPr wrap="square" lIns="0" rIns="0" tIns="0" bIns="0" anchor="t">
            <a:spAutoFit/>
          </a:bodyPr>
          <a:lstStyle/>
          <a:p>
            <a:pPr algn="l">
              <a:lnSpc>
                <a:spcPts val="1400"/>
              </a:lnSpc>
            </a:pPr>
            <a:r>
              <a:rPr sz="1100" b="0">
                <a:solidFill>
                  <a:srgbClr val="44506A"/>
                </a:solidFill>
                <a:latin typeface="DM Sans"/>
              </a:rPr>
              <a:t>Every saved voice note is played back through Saaras. A line whose amount or ending isn’t heard as written is made again. Four faults found, four fixed:</a:t>
            </a:r>
          </a:p>
        </p:txBody>
      </p:sp>
      <p:sp>
        <p:nvSpPr>
          <p:cNvPr id="16" name="TextBox 15"/>
          <p:cNvSpPr txBox="1"/>
          <p:nvPr/>
        </p:nvSpPr>
        <p:spPr>
          <a:xfrm>
            <a:off x="5486400" y="2889504"/>
            <a:ext cx="2651760" cy="201168"/>
          </a:xfrm>
          <a:prstGeom prst="rect">
            <a:avLst/>
          </a:prstGeom>
          <a:noFill/>
        </p:spPr>
        <p:txBody>
          <a:bodyPr wrap="square" lIns="0" rIns="0" tIns="0" bIns="0" anchor="t">
            <a:spAutoFit/>
          </a:bodyPr>
          <a:lstStyle/>
          <a:p>
            <a:pPr algn="l"/>
            <a:r>
              <a:rPr sz="950" b="1" spc="100">
                <a:solidFill>
                  <a:srgbClr val="5D6679"/>
                </a:solidFill>
                <a:latin typeface="DM Sans"/>
              </a:rPr>
              <a:t>WHAT WE HEARD</a:t>
            </a:r>
          </a:p>
        </p:txBody>
      </p:sp>
      <p:sp>
        <p:nvSpPr>
          <p:cNvPr id="17" name="TextBox 16"/>
          <p:cNvSpPr txBox="1"/>
          <p:nvPr/>
        </p:nvSpPr>
        <p:spPr>
          <a:xfrm>
            <a:off x="8412480" y="2889504"/>
            <a:ext cx="2743200" cy="201168"/>
          </a:xfrm>
          <a:prstGeom prst="rect">
            <a:avLst/>
          </a:prstGeom>
          <a:noFill/>
        </p:spPr>
        <p:txBody>
          <a:bodyPr wrap="square" lIns="0" rIns="0" tIns="0" bIns="0" anchor="t">
            <a:spAutoFit/>
          </a:bodyPr>
          <a:lstStyle/>
          <a:p>
            <a:pPr algn="l"/>
            <a:r>
              <a:rPr sz="950" b="1" spc="100">
                <a:solidFill>
                  <a:srgbClr val="5D6679"/>
                </a:solidFill>
                <a:latin typeface="DM Sans"/>
              </a:rPr>
              <a:t>THE FIX</a:t>
            </a:r>
          </a:p>
        </p:txBody>
      </p:sp>
      <p:cxnSp>
        <p:nvCxnSpPr>
          <p:cNvPr id="18" name="Connector 17"/>
          <p:cNvCxnSpPr/>
          <p:nvPr/>
        </p:nvCxnSpPr>
        <p:spPr>
          <a:xfrm>
            <a:off x="5486400" y="3090672"/>
            <a:ext cx="5632704" cy="0"/>
          </a:xfrm>
          <a:prstGeom prst="line">
            <a:avLst/>
          </a:prstGeom>
          <a:ln w="9525">
            <a:solidFill>
              <a:srgbClr val="D9DE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0" y="3145536"/>
            <a:ext cx="2697480" cy="457200"/>
          </a:xfrm>
          <a:prstGeom prst="rect">
            <a:avLst/>
          </a:prstGeom>
          <a:noFill/>
        </p:spPr>
        <p:txBody>
          <a:bodyPr wrap="square" lIns="0" rIns="0" tIns="0" bIns="0" anchor="t">
            <a:spAutoFit/>
          </a:bodyPr>
          <a:lstStyle/>
          <a:p>
            <a:pPr algn="l">
              <a:lnSpc>
                <a:spcPts val="1300"/>
              </a:lnSpc>
            </a:pPr>
            <a:r>
              <a:rPr sz="1050" b="0">
                <a:solidFill>
                  <a:srgbClr val="0E1B33"/>
                </a:solidFill>
                <a:latin typeface="DM Sans"/>
              </a:rPr>
              <a:t>₹850 spoken as “800” in Kannada (every amount ending in fifty)</a:t>
            </a:r>
          </a:p>
        </p:txBody>
      </p:sp>
      <p:sp>
        <p:nvSpPr>
          <p:cNvPr id="20" name="TextBox 19"/>
          <p:cNvSpPr txBox="1"/>
          <p:nvPr/>
        </p:nvSpPr>
        <p:spPr>
          <a:xfrm>
            <a:off x="8165592" y="3145536"/>
            <a:ext cx="228600" cy="274320"/>
          </a:xfrm>
          <a:prstGeom prst="rect">
            <a:avLst/>
          </a:prstGeom>
          <a:noFill/>
        </p:spPr>
        <p:txBody>
          <a:bodyPr wrap="square" lIns="0" rIns="0" tIns="0" bIns="0" anchor="t">
            <a:spAutoFit/>
          </a:bodyPr>
          <a:lstStyle/>
          <a:p>
            <a:pPr algn="l"/>
            <a:r>
              <a:rPr sz="1200" b="1">
                <a:solidFill>
                  <a:srgbClr val="F2A93B"/>
                </a:solidFill>
                <a:latin typeface="DM Sans"/>
              </a:rPr>
              <a:t>→</a:t>
            </a:r>
          </a:p>
        </p:txBody>
      </p:sp>
      <p:sp>
        <p:nvSpPr>
          <p:cNvPr id="21" name="TextBox 20"/>
          <p:cNvSpPr txBox="1"/>
          <p:nvPr/>
        </p:nvSpPr>
        <p:spPr>
          <a:xfrm>
            <a:off x="8412480" y="3145536"/>
            <a:ext cx="2743200" cy="457200"/>
          </a:xfrm>
          <a:prstGeom prst="rect">
            <a:avLst/>
          </a:prstGeom>
          <a:noFill/>
        </p:spPr>
        <p:txBody>
          <a:bodyPr wrap="square" lIns="0" rIns="0" tIns="0" bIns="0" anchor="t">
            <a:spAutoFit/>
          </a:bodyPr>
          <a:lstStyle/>
          <a:p>
            <a:pPr algn="l">
              <a:lnSpc>
                <a:spcPts val="1300"/>
              </a:lnSpc>
            </a:pPr>
            <a:r>
              <a:rPr sz="1050" b="1">
                <a:solidFill>
                  <a:srgbClr val="1E7B6E"/>
                </a:solidFill>
                <a:latin typeface="DM Sans"/>
              </a:rPr>
              <a:t>Amounts given to the voice in Kannada words, with ರೂಪಾಯಿ</a:t>
            </a:r>
          </a:p>
        </p:txBody>
      </p:sp>
      <p:cxnSp>
        <p:nvCxnSpPr>
          <p:cNvPr id="22" name="Connector 21"/>
          <p:cNvCxnSpPr/>
          <p:nvPr/>
        </p:nvCxnSpPr>
        <p:spPr>
          <a:xfrm>
            <a:off x="5486400" y="3639312"/>
            <a:ext cx="5632704" cy="0"/>
          </a:xfrm>
          <a:prstGeom prst="line">
            <a:avLst/>
          </a:prstGeom>
          <a:ln w="9525">
            <a:solidFill>
              <a:srgbClr val="D9DE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0" y="3694176"/>
            <a:ext cx="2697480" cy="457200"/>
          </a:xfrm>
          <a:prstGeom prst="rect">
            <a:avLst/>
          </a:prstGeom>
          <a:noFill/>
        </p:spPr>
        <p:txBody>
          <a:bodyPr wrap="square" lIns="0" rIns="0" tIns="0" bIns="0" anchor="t">
            <a:spAutoFit/>
          </a:bodyPr>
          <a:lstStyle/>
          <a:p>
            <a:pPr algn="l">
              <a:lnSpc>
                <a:spcPts val="1300"/>
              </a:lnSpc>
            </a:pPr>
            <a:r>
              <a:rPr sz="1050" b="0">
                <a:solidFill>
                  <a:srgbClr val="0E1B33"/>
                </a:solidFill>
                <a:latin typeface="DM Sans"/>
              </a:rPr>
              <a:t>Long Hindi lines cut off before the end</a:t>
            </a:r>
          </a:p>
        </p:txBody>
      </p:sp>
      <p:sp>
        <p:nvSpPr>
          <p:cNvPr id="24" name="TextBox 23"/>
          <p:cNvSpPr txBox="1"/>
          <p:nvPr/>
        </p:nvSpPr>
        <p:spPr>
          <a:xfrm>
            <a:off x="8165592" y="3694176"/>
            <a:ext cx="228600" cy="274320"/>
          </a:xfrm>
          <a:prstGeom prst="rect">
            <a:avLst/>
          </a:prstGeom>
          <a:noFill/>
        </p:spPr>
        <p:txBody>
          <a:bodyPr wrap="square" lIns="0" rIns="0" tIns="0" bIns="0" anchor="t">
            <a:spAutoFit/>
          </a:bodyPr>
          <a:lstStyle/>
          <a:p>
            <a:pPr algn="l"/>
            <a:r>
              <a:rPr sz="1200" b="1">
                <a:solidFill>
                  <a:srgbClr val="F2A93B"/>
                </a:solidFill>
                <a:latin typeface="DM Sans"/>
              </a:rPr>
              <a:t>→</a:t>
            </a:r>
          </a:p>
        </p:txBody>
      </p:sp>
      <p:sp>
        <p:nvSpPr>
          <p:cNvPr id="25" name="TextBox 24"/>
          <p:cNvSpPr txBox="1"/>
          <p:nvPr/>
        </p:nvSpPr>
        <p:spPr>
          <a:xfrm>
            <a:off x="8412480" y="3694176"/>
            <a:ext cx="2743200" cy="457200"/>
          </a:xfrm>
          <a:prstGeom prst="rect">
            <a:avLst/>
          </a:prstGeom>
          <a:noFill/>
        </p:spPr>
        <p:txBody>
          <a:bodyPr wrap="square" lIns="0" rIns="0" tIns="0" bIns="0" anchor="t">
            <a:spAutoFit/>
          </a:bodyPr>
          <a:lstStyle/>
          <a:p>
            <a:pPr algn="l">
              <a:lnSpc>
                <a:spcPts val="1300"/>
              </a:lnSpc>
            </a:pPr>
            <a:r>
              <a:rPr sz="1050" b="1">
                <a:solidFill>
                  <a:srgbClr val="1E7B6E"/>
                </a:solidFill>
                <a:latin typeface="DM Sans"/>
              </a:rPr>
              <a:t>Spoken one sentence at a time</a:t>
            </a:r>
          </a:p>
        </p:txBody>
      </p:sp>
      <p:cxnSp>
        <p:nvCxnSpPr>
          <p:cNvPr id="26" name="Connector 25"/>
          <p:cNvCxnSpPr/>
          <p:nvPr/>
        </p:nvCxnSpPr>
        <p:spPr>
          <a:xfrm>
            <a:off x="5486400" y="4187952"/>
            <a:ext cx="5632704" cy="0"/>
          </a:xfrm>
          <a:prstGeom prst="line">
            <a:avLst/>
          </a:prstGeom>
          <a:ln w="9525">
            <a:solidFill>
              <a:srgbClr val="D9DEE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0" y="4242816"/>
            <a:ext cx="2697480" cy="457200"/>
          </a:xfrm>
          <a:prstGeom prst="rect">
            <a:avLst/>
          </a:prstGeom>
          <a:noFill/>
        </p:spPr>
        <p:txBody>
          <a:bodyPr wrap="square" lIns="0" rIns="0" tIns="0" bIns="0" anchor="t">
            <a:spAutoFit/>
          </a:bodyPr>
          <a:lstStyle/>
          <a:p>
            <a:pPr algn="l">
              <a:lnSpc>
                <a:spcPts val="1300"/>
              </a:lnSpc>
            </a:pPr>
            <a:r>
              <a:rPr sz="1050" b="0">
                <a:solidFill>
                  <a:srgbClr val="0E1B33"/>
                </a:solidFill>
                <a:latin typeface="DM Sans"/>
              </a:rPr>
              <a:t>“सब ठीक है?” sounded like a statement</a:t>
            </a:r>
          </a:p>
        </p:txBody>
      </p:sp>
      <p:sp>
        <p:nvSpPr>
          <p:cNvPr id="28" name="TextBox 27"/>
          <p:cNvSpPr txBox="1"/>
          <p:nvPr/>
        </p:nvSpPr>
        <p:spPr>
          <a:xfrm>
            <a:off x="8165592" y="4242816"/>
            <a:ext cx="228600" cy="274320"/>
          </a:xfrm>
          <a:prstGeom prst="rect">
            <a:avLst/>
          </a:prstGeom>
          <a:noFill/>
        </p:spPr>
        <p:txBody>
          <a:bodyPr wrap="square" lIns="0" rIns="0" tIns="0" bIns="0" anchor="t">
            <a:spAutoFit/>
          </a:bodyPr>
          <a:lstStyle/>
          <a:p>
            <a:pPr algn="l"/>
            <a:r>
              <a:rPr sz="1200" b="1">
                <a:solidFill>
                  <a:srgbClr val="F2A93B"/>
                </a:solidFill>
                <a:latin typeface="DM Sans"/>
              </a:rPr>
              <a:t>→</a:t>
            </a:r>
          </a:p>
        </p:txBody>
      </p:sp>
      <p:sp>
        <p:nvSpPr>
          <p:cNvPr id="29" name="TextBox 28"/>
          <p:cNvSpPr txBox="1"/>
          <p:nvPr/>
        </p:nvSpPr>
        <p:spPr>
          <a:xfrm>
            <a:off x="8412480" y="4242816"/>
            <a:ext cx="2743200" cy="457200"/>
          </a:xfrm>
          <a:prstGeom prst="rect">
            <a:avLst/>
          </a:prstGeom>
          <a:noFill/>
        </p:spPr>
        <p:txBody>
          <a:bodyPr wrap="square" lIns="0" rIns="0" tIns="0" bIns="0" anchor="t">
            <a:spAutoFit/>
          </a:bodyPr>
          <a:lstStyle/>
          <a:p>
            <a:pPr algn="l">
              <a:lnSpc>
                <a:spcPts val="1300"/>
              </a:lnSpc>
            </a:pPr>
            <a:r>
              <a:rPr sz="1050" b="1">
                <a:solidFill>
                  <a:srgbClr val="1E7B6E"/>
                </a:solidFill>
                <a:latin typeface="DM Sans"/>
              </a:rPr>
              <a:t>Hindi questions start with क्या</a:t>
            </a:r>
          </a:p>
        </p:txBody>
      </p:sp>
      <p:cxnSp>
        <p:nvCxnSpPr>
          <p:cNvPr id="30" name="Connector 29"/>
          <p:cNvCxnSpPr/>
          <p:nvPr/>
        </p:nvCxnSpPr>
        <p:spPr>
          <a:xfrm>
            <a:off x="5486400" y="4736592"/>
            <a:ext cx="5632704" cy="0"/>
          </a:xfrm>
          <a:prstGeom prst="line">
            <a:avLst/>
          </a:prstGeom>
          <a:ln w="9525">
            <a:solidFill>
              <a:srgbClr val="D9DE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0" y="4791456"/>
            <a:ext cx="2697480" cy="457200"/>
          </a:xfrm>
          <a:prstGeom prst="rect">
            <a:avLst/>
          </a:prstGeom>
          <a:noFill/>
        </p:spPr>
        <p:txBody>
          <a:bodyPr wrap="square" lIns="0" rIns="0" tIns="0" bIns="0" anchor="t">
            <a:spAutoFit/>
          </a:bodyPr>
          <a:lstStyle/>
          <a:p>
            <a:pPr algn="l">
              <a:lnSpc>
                <a:spcPts val="1300"/>
              </a:lnSpc>
            </a:pPr>
            <a:r>
              <a:rPr sz="1050" b="0">
                <a:solidFill>
                  <a:srgbClr val="0E1B33"/>
                </a:solidFill>
                <a:latin typeface="DM Sans"/>
              </a:rPr>
              <a:t>“23–25 Oct” heard as “23 and 25”: Saturday sounded deducted</a:t>
            </a:r>
          </a:p>
        </p:txBody>
      </p:sp>
      <p:sp>
        <p:nvSpPr>
          <p:cNvPr id="32" name="TextBox 31"/>
          <p:cNvSpPr txBox="1"/>
          <p:nvPr/>
        </p:nvSpPr>
        <p:spPr>
          <a:xfrm>
            <a:off x="8165592" y="4791456"/>
            <a:ext cx="228600" cy="274320"/>
          </a:xfrm>
          <a:prstGeom prst="rect">
            <a:avLst/>
          </a:prstGeom>
          <a:noFill/>
        </p:spPr>
        <p:txBody>
          <a:bodyPr wrap="square" lIns="0" rIns="0" tIns="0" bIns="0" anchor="t">
            <a:spAutoFit/>
          </a:bodyPr>
          <a:lstStyle/>
          <a:p>
            <a:pPr algn="l"/>
            <a:r>
              <a:rPr sz="1200" b="1">
                <a:solidFill>
                  <a:srgbClr val="F2A93B"/>
                </a:solidFill>
                <a:latin typeface="DM Sans"/>
              </a:rPr>
              <a:t>→</a:t>
            </a:r>
          </a:p>
        </p:txBody>
      </p:sp>
      <p:sp>
        <p:nvSpPr>
          <p:cNvPr id="33" name="TextBox 32"/>
          <p:cNvSpPr txBox="1"/>
          <p:nvPr/>
        </p:nvSpPr>
        <p:spPr>
          <a:xfrm>
            <a:off x="8412480" y="4791456"/>
            <a:ext cx="2743200" cy="457200"/>
          </a:xfrm>
          <a:prstGeom prst="rect">
            <a:avLst/>
          </a:prstGeom>
          <a:noFill/>
        </p:spPr>
        <p:txBody>
          <a:bodyPr wrap="square" lIns="0" rIns="0" tIns="0" bIns="0" anchor="t">
            <a:spAutoFit/>
          </a:bodyPr>
          <a:lstStyle/>
          <a:p>
            <a:pPr algn="l">
              <a:lnSpc>
                <a:spcPts val="1300"/>
              </a:lnSpc>
            </a:pPr>
            <a:r>
              <a:rPr sz="1050" b="1">
                <a:solidFill>
                  <a:srgbClr val="1E7B6E"/>
                </a:solidFill>
                <a:latin typeface="DM Sans"/>
              </a:rPr>
              <a:t>Spoken “from 23 to 25” in all three languages</a:t>
            </a:r>
          </a:p>
        </p:txBody>
      </p:sp>
      <p:sp>
        <p:nvSpPr>
          <p:cNvPr id="34" name="TextBox 33"/>
          <p:cNvSpPr txBox="1"/>
          <p:nvPr/>
        </p:nvSpPr>
        <p:spPr>
          <a:xfrm>
            <a:off x="813816" y="5532120"/>
            <a:ext cx="10607040" cy="320040"/>
          </a:xfrm>
          <a:prstGeom prst="rect">
            <a:avLst/>
          </a:prstGeom>
          <a:noFill/>
        </p:spPr>
        <p:txBody>
          <a:bodyPr wrap="square" lIns="0" rIns="0" tIns="0" bIns="0" anchor="t">
            <a:spAutoFit/>
          </a:bodyPr>
          <a:lstStyle/>
          <a:p>
            <a:pPr algn="l"/>
            <a:r>
              <a:rPr sz="1300" b="1">
                <a:solidFill>
                  <a:srgbClr val="0E1B33"/>
                </a:solidFill>
                <a:latin typeface="DM Sans"/>
              </a:rPr>
              <a:t>Tested live at the venue: </a:t>
            </a:r>
            <a:r>
              <a:rPr sz="1300" b="0">
                <a:solidFill>
                  <a:srgbClr val="44506A"/>
                </a:solidFill>
                <a:latin typeface="DM Sans"/>
              </a:rPr>
              <a:t>voice out 1.4 s · speech-to-text 0.8 s · language model 1.0 s. No key? The story’s saved Sarvam audio still plays.</a:t>
            </a:r>
          </a:p>
        </p:txBody>
      </p:sp>
      <p:sp>
        <p:nvSpPr>
          <p:cNvPr id="35" name="TextBox 34"/>
          <p:cNvSpPr txBox="1"/>
          <p:nvPr/>
        </p:nvSpPr>
        <p:spPr>
          <a:xfrm>
            <a:off x="813816" y="6236208"/>
            <a:ext cx="9601200" cy="237744"/>
          </a:xfrm>
          <a:prstGeom prst="rect">
            <a:avLst/>
          </a:prstGeom>
          <a:noFill/>
        </p:spPr>
        <p:txBody>
          <a:bodyPr wrap="square" lIns="0" rIns="0" tIns="0" bIns="0" anchor="t">
            <a:spAutoFit/>
          </a:bodyPr>
          <a:lstStyle/>
          <a:p>
            <a:pPr algn="l">
              <a:lnSpc>
                <a:spcPts val="1680"/>
              </a:lnSpc>
            </a:pPr>
            <a:r>
              <a:rPr sz="1200" b="0">
                <a:solidFill>
                  <a:srgbClr val="5D6679"/>
                </a:solidFill>
                <a:latin typeface="DM Sans"/>
              </a:rPr>
              <a:t>Sambhal · Paytm Build for India AI Hackathon – Bengaluru</a:t>
            </a:r>
          </a:p>
        </p:txBody>
      </p:sp>
      <p:sp>
        <p:nvSpPr>
          <p:cNvPr id="36" name="TextBox 35"/>
          <p:cNvSpPr txBox="1"/>
          <p:nvPr/>
        </p:nvSpPr>
        <p:spPr>
          <a:xfrm>
            <a:off x="10570464" y="6236208"/>
            <a:ext cx="813816" cy="237744"/>
          </a:xfrm>
          <a:prstGeom prst="rect">
            <a:avLst/>
          </a:prstGeom>
          <a:noFill/>
        </p:spPr>
        <p:txBody>
          <a:bodyPr wrap="square" lIns="0" rIns="0" tIns="0" bIns="0" anchor="t">
            <a:spAutoFit/>
          </a:bodyPr>
          <a:lstStyle/>
          <a:p>
            <a:pPr algn="r">
              <a:lnSpc>
                <a:spcPts val="1680"/>
              </a:lnSpc>
            </a:pPr>
            <a:r>
              <a:rPr sz="1200" b="0">
                <a:solidFill>
                  <a:srgbClr val="5D6679"/>
                </a:solidFill>
                <a:latin typeface="DM Sans"/>
              </a:rPr>
              <a:t>17</a:t>
            </a:r>
          </a:p>
        </p:txBody>
      </p:sp>
    </p:spTree>
  </p:cSld>
  <p:clrMapOvr>
    <a:masterClrMapping/>
  </p:clrMapOvr>
</p:sld>
</file>

<file path=ppt/theme/theme1.xml><?xml version="1.0" encoding="utf-8"?>
<a:theme xmlns:a="http://schemas.openxmlformats.org/drawingml/2006/main" name="Sambhal – Paytm Build for India">
  <a:themeElements>
    <a:clrScheme name="Sambhal – Paytm Build for India">
      <a:dk1>
        <a:srgbClr val="0E1B33"/>
      </a:dk1>
      <a:lt1>
        <a:srgbClr val="ECEFF4"/>
      </a:lt1>
      <a:dk2>
        <a:srgbClr val="465063"/>
      </a:dk2>
      <a:lt2>
        <a:srgbClr val="D6DAE1"/>
      </a:lt2>
      <a:accent1>
        <a:srgbClr val="94560A"/>
      </a:accent1>
      <a:accent2>
        <a:srgbClr val="F2A93B"/>
      </a:accent2>
      <a:accent3>
        <a:srgbClr val="1E7B6E"/>
      </a:accent3>
      <a:accent4>
        <a:srgbClr val="8FD6C8"/>
      </a:accent4>
      <a:accent5>
        <a:srgbClr val="44506A"/>
      </a:accent5>
      <a:accent6>
        <a:srgbClr val="5D6679"/>
      </a:accent6>
      <a:hlink>
        <a:srgbClr val="0563C1"/>
      </a:hlink>
      <a:folHlink>
        <a:srgbClr val="954F72"/>
      </a:folHlink>
    </a:clrScheme>
    <a:fontScheme name="Sambhal – Paytm Build for India">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Sambhal – Paytm Build for India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Noto Serif Devanagari
Copyright 2022 The Noto Project Authors (https://github.com/notofonts/devanagari)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2026-10-28T18:05:12Z</dcterms:created>
  <dcterms:modified xsi:type="dcterms:W3CDTF">2026-10-28T18:05:12Z</dcterms:modified>
</cp:coreProperties>
</file>